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6708AA-5517-433E-A3AC-B488FEF3DBF5}" v="2" dt="2026-03-31T00:49:45.3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33EA4-6D85-77B6-9234-A9E4AF33FB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E45F33-6650-4F83-1EA0-969EC3AB65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42571-8E86-F1A9-CB0B-DE4524017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B8BD6-25B7-8443-3587-EFDC74DB1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D01C9-D03D-A2C4-D617-8D988ADE2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3894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15374-883C-B5F2-7741-06211A636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17C7E-F35F-153E-5BBF-257B6EED5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D242B-77B6-263A-EDA9-DEF5E0D50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F0106-5F7F-22A0-451C-F848D099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CAC94-C646-5361-F554-096308F91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1183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8D1CA-3986-F800-2558-90ABA3559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511ED7-5DF2-ECD2-E82C-D8E6650DD6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EC228-2ECF-A5C0-7D5C-6FDC6446E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0DB8D-0735-9E68-3A65-AC2025985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C4414-8A88-9CF0-22F9-E08831ED8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4581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3BE73-3D1F-938F-7AD8-93191CC20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5A556-C36B-CD71-006E-BB0803A41A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718AC3-98EC-13BB-3EB2-AB26BB45AC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676C7D-C2C5-B84C-878F-586618857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23286E-FDB7-3997-7FD4-8B8497CAC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33A71C-D569-9BA6-E6FE-9E8E9812D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0756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DC903-C74A-00FF-9405-2E4683828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56092-9743-43BB-C1C0-1576C6837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DA2160-E4D1-1188-1930-BBBCA732E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C91B48-0CC9-A095-6221-B7E7B8A5FD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5B3830-AF47-0B7E-ECEA-C07868717C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155BEB-368B-3005-8E0F-AD13E60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670FBB-4F93-7578-85B9-41FAE785A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4C1177-EAD8-7C3B-69F4-DA078665D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0989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B7639-1D23-AFA4-55CE-BF677261C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33F047-8BE2-03D5-45B9-B4BF6EA30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82FFF6-5E25-153D-ED15-8FF5F97D0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3B7DF-CE88-9898-7D69-B23F00BE4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796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4F0CBD-D560-7943-D98C-BDD6695D2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F64AF9-02DB-E764-0416-5565776E7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B46AE-5078-8A1A-390A-EB34F0DA9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610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8222C-EA5A-D492-568C-675D5D5A4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236DE-1D90-8BC1-B0C7-0B40020E5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A0E84B-AD28-A9F0-8275-F7068A887A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FEDE47-1217-13D7-BA07-736DC9A2B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9C3696-4409-B246-8722-92EDEECE5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6165CF-EF58-67A4-2AB9-0DECBD12D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3208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38DFA-763D-CB69-5CC3-4606EFB20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2D26B1-62E5-91B1-70DB-E72EA35A28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BBA9FD-C53E-FAAE-D019-846E51CA96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BD2D0E-021D-4538-00A0-482BF7EDD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EF7D24-37D7-3AF3-D471-4CBCF0F46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BD41EF-E430-2AE0-EB08-3B46BB755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562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521B8-A298-D6DF-0294-185A4E9C8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26F777-7D80-C7A1-907A-10C0CDD62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0D364-F362-5162-2BC6-6BC686DF0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70F82-90F2-B52B-4BDF-3F6444777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5711C-5988-F215-6D55-8BC5273A1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1827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E281B3-88EE-B8E6-0F78-189D1F3A6F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9AAAF4-A742-52BA-3B48-368B5D676E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67E9A-CA66-A8A5-2B45-DFEB00E4B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A31F5-4D48-40F0-A61D-825EC73FB2DF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D131F-C19C-4DB8-103C-1B199A68E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2C4D3-9007-53B4-4379-940D198F9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2411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CA5A8B-17B8-84EA-E15B-8F5D47A4E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8C61E-58BA-CB9D-9B47-AE91EDC9B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CAF0A-8505-72D4-D001-78515375B0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EA31F5-4D48-40F0-A61D-825EC73FB2DF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ADC6D-B80C-1496-926A-0C3AA420B5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60143-27A1-5ED8-79F4-75BAA74F9A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FBF8E4-69AE-49CF-9F9E-EE5CD0D95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1091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TsaLQAetPLU?feature=oembed" TargetMode="External"/><Relationship Id="rId6" Type="http://schemas.openxmlformats.org/officeDocument/2006/relationships/hyperlink" Target="https://youtu.be/TsaLQAetPLU?si=kNOQBp11lXRsfrZa" TargetMode="Externa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C86E878-BB73-3D04-121D-EA248AFD70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7D71ADB2-39B8-1361-2F98-767788A4A80F}"/>
              </a:ext>
            </a:extLst>
          </p:cNvPr>
          <p:cNvSpPr txBox="1">
            <a:spLocks/>
          </p:cNvSpPr>
          <p:nvPr/>
        </p:nvSpPr>
        <p:spPr>
          <a:xfrm>
            <a:off x="834189" y="1723406"/>
            <a:ext cx="10523622" cy="86793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5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7560A06E-8533-D5E8-CC43-3C362EEF5054}"/>
              </a:ext>
            </a:extLst>
          </p:cNvPr>
          <p:cNvSpPr txBox="1">
            <a:spLocks/>
          </p:cNvSpPr>
          <p:nvPr/>
        </p:nvSpPr>
        <p:spPr>
          <a:xfrm>
            <a:off x="3073637" y="3990151"/>
            <a:ext cx="6044726" cy="59093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600" b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Professor: Henrique Delegrego</a:t>
            </a:r>
            <a:endParaRPr lang="pt-BR" sz="3600" b="1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30315D21-1867-3184-E9C4-67317A69A0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27" t="18699" r="11453" b="17221"/>
          <a:stretch>
            <a:fillRect/>
          </a:stretch>
        </p:blipFill>
        <p:spPr bwMode="auto">
          <a:xfrm>
            <a:off x="6664558" y="5474360"/>
            <a:ext cx="2304175" cy="710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Git - Logo Downloads">
            <a:extLst>
              <a:ext uri="{FF2B5EF4-FFF2-40B4-BE49-F238E27FC236}">
                <a16:creationId xmlns:a16="http://schemas.microsoft.com/office/drawing/2014/main" id="{7E39DE38-C7FF-BF47-EBD3-8B8F78834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1730" y="5549448"/>
            <a:ext cx="1521849" cy="635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2101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51D24-2543-078A-531F-69D6ED793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DBA718C-548F-5410-11C2-4E2548E939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The SIX Basic Steps of Software Development by KitelyTech">
            <a:extLst>
              <a:ext uri="{FF2B5EF4-FFF2-40B4-BE49-F238E27FC236}">
                <a16:creationId xmlns:a16="http://schemas.microsoft.com/office/drawing/2014/main" id="{20E2969B-AB1F-2653-1D4A-7A13E39943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13" t="1663" r="24139" b="1456"/>
          <a:stretch/>
        </p:blipFill>
        <p:spPr bwMode="auto">
          <a:xfrm>
            <a:off x="3159607" y="953411"/>
            <a:ext cx="4370589" cy="4401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0CADBD1-8A5E-ABA0-E7DD-5577AE57E3BC}"/>
              </a:ext>
            </a:extLst>
          </p:cNvPr>
          <p:cNvSpPr txBox="1"/>
          <p:nvPr/>
        </p:nvSpPr>
        <p:spPr>
          <a:xfrm>
            <a:off x="7158047" y="4736131"/>
            <a:ext cx="437058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Esse projeto: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É possível ser feito a tempo?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Está dentro do orçamento?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Faz do zero ou compra uma solução?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Quais são os objetivos?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AACA55-932A-2C75-263E-A0F589296D6C}"/>
              </a:ext>
            </a:extLst>
          </p:cNvPr>
          <p:cNvSpPr txBox="1"/>
          <p:nvPr/>
        </p:nvSpPr>
        <p:spPr>
          <a:xfrm>
            <a:off x="1237789" y="5385562"/>
            <a:ext cx="17467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Casos de uso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Personas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Estórias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B2A9A488-4934-45C7-3888-E5A1061EDB14}"/>
              </a:ext>
            </a:extLst>
          </p:cNvPr>
          <p:cNvSpPr/>
          <p:nvPr/>
        </p:nvSpPr>
        <p:spPr>
          <a:xfrm rot="8414279">
            <a:off x="2898999" y="5163670"/>
            <a:ext cx="580028" cy="259935"/>
          </a:xfrm>
          <a:prstGeom prst="rightArrow">
            <a:avLst/>
          </a:prstGeom>
          <a:solidFill>
            <a:srgbClr val="293E6B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056A5492-EEA5-07DC-088F-BDCD214F4E9D}"/>
              </a:ext>
            </a:extLst>
          </p:cNvPr>
          <p:cNvSpPr/>
          <p:nvPr/>
        </p:nvSpPr>
        <p:spPr>
          <a:xfrm rot="1433933">
            <a:off x="6580319" y="5185456"/>
            <a:ext cx="580028" cy="259935"/>
          </a:xfrm>
          <a:prstGeom prst="rightArrow">
            <a:avLst/>
          </a:prstGeom>
          <a:solidFill>
            <a:srgbClr val="B1292F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46DC7E87-7839-EEC6-2965-E4063A413C95}"/>
              </a:ext>
            </a:extLst>
          </p:cNvPr>
          <p:cNvSpPr/>
          <p:nvPr/>
        </p:nvSpPr>
        <p:spPr>
          <a:xfrm rot="10800000">
            <a:off x="2500754" y="3366703"/>
            <a:ext cx="580028" cy="259935"/>
          </a:xfrm>
          <a:prstGeom prst="rightArrow">
            <a:avLst/>
          </a:prstGeom>
          <a:solidFill>
            <a:srgbClr val="0093DA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1DD136-CEF7-D841-FF4F-006BBF955421}"/>
              </a:ext>
            </a:extLst>
          </p:cNvPr>
          <p:cNvSpPr txBox="1"/>
          <p:nvPr/>
        </p:nvSpPr>
        <p:spPr>
          <a:xfrm>
            <a:off x="-1281" y="2979474"/>
            <a:ext cx="27434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É feito o fluxograma, diagrama de classes e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Mockups das interfaces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E97FF94A-E527-4ECB-6129-5DA15F33F8C6}"/>
              </a:ext>
            </a:extLst>
          </p:cNvPr>
          <p:cNvSpPr/>
          <p:nvPr/>
        </p:nvSpPr>
        <p:spPr>
          <a:xfrm rot="11663422">
            <a:off x="2765324" y="1202174"/>
            <a:ext cx="580028" cy="259935"/>
          </a:xfrm>
          <a:prstGeom prst="rightArrow">
            <a:avLst/>
          </a:prstGeom>
          <a:solidFill>
            <a:srgbClr val="0C9D8B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E05089-68CB-2476-8BE5-21860F1A5D94}"/>
              </a:ext>
            </a:extLst>
          </p:cNvPr>
          <p:cNvSpPr txBox="1"/>
          <p:nvPr/>
        </p:nvSpPr>
        <p:spPr>
          <a:xfrm>
            <a:off x="803392" y="741791"/>
            <a:ext cx="29436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É iniciada a programação do software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12E49E30-DC93-940D-D3AF-64A1EF9F3FE0}"/>
              </a:ext>
            </a:extLst>
          </p:cNvPr>
          <p:cNvSpPr/>
          <p:nvPr/>
        </p:nvSpPr>
        <p:spPr>
          <a:xfrm rot="20185108">
            <a:off x="6550243" y="999120"/>
            <a:ext cx="580028" cy="259935"/>
          </a:xfrm>
          <a:prstGeom prst="rightArrow">
            <a:avLst/>
          </a:prstGeom>
          <a:solidFill>
            <a:srgbClr val="EDB717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273673-2273-3429-DF64-3FBAB9FF2149}"/>
              </a:ext>
            </a:extLst>
          </p:cNvPr>
          <p:cNvSpPr txBox="1"/>
          <p:nvPr/>
        </p:nvSpPr>
        <p:spPr>
          <a:xfrm>
            <a:off x="7482627" y="112939"/>
            <a:ext cx="406867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São feitos os testes: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Integridade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Disponibilidade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Performance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Compatibilidade e facilidade de uso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Integração de módulos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6703CFD3-1134-4FD9-3CAD-E0F0E23D5B7E}"/>
              </a:ext>
            </a:extLst>
          </p:cNvPr>
          <p:cNvSpPr/>
          <p:nvPr/>
        </p:nvSpPr>
        <p:spPr>
          <a:xfrm>
            <a:off x="7609021" y="3110014"/>
            <a:ext cx="580029" cy="259935"/>
          </a:xfrm>
          <a:prstGeom prst="rightArrow">
            <a:avLst/>
          </a:prstGeom>
          <a:solidFill>
            <a:srgbClr val="EF810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C5ECE4-45B3-BC20-7B38-E93460121382}"/>
              </a:ext>
            </a:extLst>
          </p:cNvPr>
          <p:cNvSpPr txBox="1"/>
          <p:nvPr/>
        </p:nvSpPr>
        <p:spPr>
          <a:xfrm>
            <a:off x="8251429" y="2317588"/>
            <a:ext cx="383389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Processo de configurar e disponibilizar um software para os usuários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É feita a comercialização do software</a:t>
            </a:r>
          </a:p>
          <a:p>
            <a:r>
              <a:rPr lang="pt-BR" sz="2000">
                <a:latin typeface="Calibri" panose="020F0502020204030204" pitchFamily="34" charset="0"/>
                <a:cs typeface="Calibri" panose="020F0502020204030204" pitchFamily="34" charset="0"/>
              </a:rPr>
              <a:t>Correções de bugs menores são feitas nessa etapa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3E11831-8F72-FAFE-BF15-A7E7FA4511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31" b="94639" l="1017" r="91864">
                        <a14:foregroundMark x1="20678" y1="52577" x2="20000" y2="50928"/>
                        <a14:foregroundMark x1="19322" y1="52990" x2="21695" y2="49691"/>
                        <a14:foregroundMark x1="20000" y1="52165" x2="26102" y2="59588"/>
                        <a14:foregroundMark x1="36271" y1="49072" x2="38644" y2="56907"/>
                        <a14:foregroundMark x1="24746" y1="51959" x2="51186" y2="53402"/>
                        <a14:foregroundMark x1="29153" y1="50722" x2="56949" y2="55670"/>
                        <a14:foregroundMark x1="56949" y1="55670" x2="56949" y2="55670"/>
                        <a14:foregroundMark x1="67119" y1="49278" x2="75593" y2="53814"/>
                        <a14:foregroundMark x1="83051" y1="49691" x2="71186" y2="56701"/>
                        <a14:foregroundMark x1="77627" y1="52990" x2="71186" y2="55876"/>
                        <a14:foregroundMark x1="83390" y1="51753" x2="67458" y2="54845"/>
                        <a14:foregroundMark x1="69492" y1="52165" x2="43729" y2="55876"/>
                        <a14:foregroundMark x1="58305" y1="51134" x2="52203" y2="55670"/>
                        <a14:foregroundMark x1="32203" y1="63505" x2="55932" y2="59175"/>
                        <a14:foregroundMark x1="46441" y1="56907" x2="58305" y2="61443"/>
                        <a14:foregroundMark x1="36949" y1="65773" x2="19322" y2="70722"/>
                        <a14:foregroundMark x1="17627" y1="69485" x2="29831" y2="65773"/>
                        <a14:foregroundMark x1="16271" y1="69278" x2="54237" y2="66804"/>
                        <a14:foregroundMark x1="49831" y1="67629" x2="74915" y2="69072"/>
                        <a14:foregroundMark x1="74915" y1="69072" x2="75254" y2="68660"/>
                        <a14:foregroundMark x1="75932" y1="68041" x2="81356" y2="65155"/>
                        <a14:foregroundMark x1="71186" y1="69485" x2="71186" y2="48454"/>
                        <a14:foregroundMark x1="58983" y1="50103" x2="51186" y2="66804"/>
                        <a14:foregroundMark x1="55932" y1="53814" x2="52542" y2="66392"/>
                        <a14:foregroundMark x1="70169" y1="6804" x2="76271" y2="5567"/>
                        <a14:foregroundMark x1="73559" y1="1856" x2="73220" y2="1237"/>
                        <a14:foregroundMark x1="5424" y1="25979" x2="6441" y2="28247"/>
                        <a14:foregroundMark x1="1017" y1="72371" x2="3729" y2="72371"/>
                        <a14:foregroundMark x1="35932" y1="94845" x2="64746" y2="93402"/>
                        <a14:foregroundMark x1="91864" y1="46804" x2="88136" y2="4948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95190" y="2121869"/>
            <a:ext cx="1313831" cy="216002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4B167B2-E34D-5C7E-3C48-7EFFFA2A5F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0257" y="2884678"/>
            <a:ext cx="178757" cy="189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511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/>
      <p:bldP spid="6" grpId="0"/>
      <p:bldP spid="7" grpId="0" animBg="1"/>
      <p:bldP spid="8" grpId="0" animBg="1"/>
      <p:bldP spid="9" grpId="0" animBg="1"/>
      <p:bldP spid="10" grpId="0"/>
      <p:bldP spid="11" grpId="0" animBg="1"/>
      <p:bldP spid="12" grpId="0"/>
      <p:bldP spid="13" grpId="0" animBg="1"/>
      <p:bldP spid="14" grpId="0" uiExpand="1"/>
      <p:bldP spid="15" grpId="0" animBg="1"/>
      <p:bldP spid="16" grpId="0" uiExpan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68F14-6AA4-0DA3-8A70-47B95CDC3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D3B0613-4653-597B-5CE8-C5F00A1C6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ítulo 1">
            <a:extLst>
              <a:ext uri="{FF2B5EF4-FFF2-40B4-BE49-F238E27FC236}">
                <a16:creationId xmlns:a16="http://schemas.microsoft.com/office/drawing/2014/main" id="{E06EEDE2-1984-AF8D-F629-152DA10ACDDB}"/>
              </a:ext>
            </a:extLst>
          </p:cNvPr>
          <p:cNvSpPr txBox="1">
            <a:spLocks/>
          </p:cNvSpPr>
          <p:nvPr/>
        </p:nvSpPr>
        <p:spPr>
          <a:xfrm>
            <a:off x="3048000" y="209913"/>
            <a:ext cx="6096000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3A9B7AFC-6B77-0860-032A-5B88DF4B7A0D}"/>
              </a:ext>
            </a:extLst>
          </p:cNvPr>
          <p:cNvSpPr txBox="1">
            <a:spLocks/>
          </p:cNvSpPr>
          <p:nvPr/>
        </p:nvSpPr>
        <p:spPr>
          <a:xfrm>
            <a:off x="723890" y="4515483"/>
            <a:ext cx="592163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Git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1BAB338-1FA7-F4FE-8598-B156B475E5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31" t="25748" r="51881" b="21745"/>
          <a:stretch/>
        </p:blipFill>
        <p:spPr>
          <a:xfrm>
            <a:off x="1607619" y="4466239"/>
            <a:ext cx="1033272" cy="52322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81F2F7D-81DB-7D25-5566-4903C3F2FCD4}"/>
              </a:ext>
            </a:extLst>
          </p:cNvPr>
          <p:cNvSpPr txBox="1"/>
          <p:nvPr/>
        </p:nvSpPr>
        <p:spPr>
          <a:xfrm>
            <a:off x="0" y="5137683"/>
            <a:ext cx="7357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É uma ferramenta de versionamento</a:t>
            </a: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43B2B770-3FF9-8959-8825-00C41154D3CA}"/>
              </a:ext>
            </a:extLst>
          </p:cNvPr>
          <p:cNvSpPr txBox="1">
            <a:spLocks/>
          </p:cNvSpPr>
          <p:nvPr/>
        </p:nvSpPr>
        <p:spPr>
          <a:xfrm>
            <a:off x="667386" y="1182668"/>
            <a:ext cx="2214917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Versionamento</a:t>
            </a:r>
          </a:p>
        </p:txBody>
      </p:sp>
      <p:pic>
        <p:nvPicPr>
          <p:cNvPr id="21" name="Picture 2" descr="Top 5 Open Source Version Control Tools for System Admins">
            <a:extLst>
              <a:ext uri="{FF2B5EF4-FFF2-40B4-BE49-F238E27FC236}">
                <a16:creationId xmlns:a16="http://schemas.microsoft.com/office/drawing/2014/main" id="{32A6C78E-1066-1D47-613C-C8317C6736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6" t="31339" r="1414" b="21200"/>
          <a:stretch/>
        </p:blipFill>
        <p:spPr bwMode="auto">
          <a:xfrm>
            <a:off x="3237921" y="1124438"/>
            <a:ext cx="2214917" cy="541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7168D61-50AC-9915-EE2F-E360D180F7D1}"/>
              </a:ext>
            </a:extLst>
          </p:cNvPr>
          <p:cNvSpPr txBox="1"/>
          <p:nvPr/>
        </p:nvSpPr>
        <p:spPr>
          <a:xfrm>
            <a:off x="0" y="1943257"/>
            <a:ext cx="10123715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Responsável por gerenciar alterações em programas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À medida que as equipes desenvolvem, é comum que várias versões do mesmo software sejam implementadas em locais diferentes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Permite que várias pessoas trabalhem em um mesmo projeto</a:t>
            </a:r>
          </a:p>
        </p:txBody>
      </p:sp>
    </p:spTree>
    <p:extLst>
      <p:ext uri="{BB962C8B-B14F-4D97-AF65-F5344CB8AC3E}">
        <p14:creationId xmlns:p14="http://schemas.microsoft.com/office/powerpoint/2010/main" val="3809777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FE31B-C08D-B884-4FE6-BFB49383F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A253806-0C9F-ADF3-3576-D5D7923E05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ítulo 1">
            <a:extLst>
              <a:ext uri="{FF2B5EF4-FFF2-40B4-BE49-F238E27FC236}">
                <a16:creationId xmlns:a16="http://schemas.microsoft.com/office/drawing/2014/main" id="{F786CF17-2D55-B372-071E-1D803EB0D37E}"/>
              </a:ext>
            </a:extLst>
          </p:cNvPr>
          <p:cNvSpPr txBox="1">
            <a:spLocks/>
          </p:cNvSpPr>
          <p:nvPr/>
        </p:nvSpPr>
        <p:spPr>
          <a:xfrm>
            <a:off x="3048000" y="209913"/>
            <a:ext cx="6096000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65B07833-2107-126E-E44B-33CC4E44411F}"/>
              </a:ext>
            </a:extLst>
          </p:cNvPr>
          <p:cNvSpPr txBox="1">
            <a:spLocks/>
          </p:cNvSpPr>
          <p:nvPr/>
        </p:nvSpPr>
        <p:spPr>
          <a:xfrm>
            <a:off x="691708" y="1309091"/>
            <a:ext cx="1118431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GitHub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7055AC-FE16-853C-698A-B5D8D1B9FFBC}"/>
              </a:ext>
            </a:extLst>
          </p:cNvPr>
          <p:cNvSpPr txBox="1"/>
          <p:nvPr/>
        </p:nvSpPr>
        <p:spPr>
          <a:xfrm>
            <a:off x="-1" y="2055426"/>
            <a:ext cx="10618237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É a ferramenta de versionamento mais usada no mundo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 concorrentes como o </a:t>
            </a:r>
            <a:r>
              <a:rPr lang="pt-BR" sz="240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GitLab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240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Atlassian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240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BitBucket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 vários outros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320E9D9-28F9-F950-CD6C-9B35A69EDB1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8789" t="5133" r="4976" b="9396"/>
          <a:stretch/>
        </p:blipFill>
        <p:spPr>
          <a:xfrm>
            <a:off x="1943612" y="1168334"/>
            <a:ext cx="675529" cy="677533"/>
          </a:xfrm>
          <a:prstGeom prst="rect">
            <a:avLst/>
          </a:prstGeom>
        </p:spPr>
      </p:pic>
      <p:pic>
        <p:nvPicPr>
          <p:cNvPr id="20" name="Online Media 3" title="Como personalizar o seu perfil no Github (Readme)">
            <a:hlinkClick r:id="" action="ppaction://media"/>
            <a:extLst>
              <a:ext uri="{FF2B5EF4-FFF2-40B4-BE49-F238E27FC236}">
                <a16:creationId xmlns:a16="http://schemas.microsoft.com/office/drawing/2014/main" id="{ACF5F2FE-9972-03D6-AC3E-9AB3544E8751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7520429" y="4066767"/>
            <a:ext cx="3402650" cy="191399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B39A80D-339A-CCE4-C467-4330325D8C18}"/>
              </a:ext>
            </a:extLst>
          </p:cNvPr>
          <p:cNvSpPr txBox="1"/>
          <p:nvPr/>
        </p:nvSpPr>
        <p:spPr>
          <a:xfrm>
            <a:off x="7563281" y="3530353"/>
            <a:ext cx="3316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6"/>
              </a:rPr>
              <a:t>Vídeo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que eu recomendo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B73E45-560D-F546-0DEC-2413ED344C5E}"/>
              </a:ext>
            </a:extLst>
          </p:cNvPr>
          <p:cNvSpPr txBox="1"/>
          <p:nvPr/>
        </p:nvSpPr>
        <p:spPr>
          <a:xfrm>
            <a:off x="1" y="3686483"/>
            <a:ext cx="5094514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8500">
              <a:spcBef>
                <a:spcPts val="600"/>
              </a:spcBef>
            </a:pP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Agora: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Vamos criar uma conta no GitHub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Personalizar o nosso perfil</a:t>
            </a:r>
          </a:p>
        </p:txBody>
      </p:sp>
    </p:spTree>
    <p:extLst>
      <p:ext uri="{BB962C8B-B14F-4D97-AF65-F5344CB8AC3E}">
        <p14:creationId xmlns:p14="http://schemas.microsoft.com/office/powerpoint/2010/main" val="1748922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</p:childTnLst>
        </p:cTn>
      </p:par>
    </p:tnLst>
    <p:bldLst>
      <p:bldP spid="21" grpId="0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A0708-B08B-E77B-C8C9-E5E48D527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FB6A1CB-3CFD-AD15-76F8-4068AF4913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0284337A-9227-D4E7-CEEC-24871DEA2B16}"/>
              </a:ext>
            </a:extLst>
          </p:cNvPr>
          <p:cNvSpPr txBox="1">
            <a:spLocks/>
          </p:cNvSpPr>
          <p:nvPr/>
        </p:nvSpPr>
        <p:spPr>
          <a:xfrm>
            <a:off x="3048000" y="209913"/>
            <a:ext cx="6096000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F4EC3748-9402-2550-AF57-FEB4C23F1239}"/>
              </a:ext>
            </a:extLst>
          </p:cNvPr>
          <p:cNvSpPr txBox="1">
            <a:spLocks/>
          </p:cNvSpPr>
          <p:nvPr/>
        </p:nvSpPr>
        <p:spPr>
          <a:xfrm>
            <a:off x="734787" y="823854"/>
            <a:ext cx="2553991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Repositório (</a:t>
            </a:r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Repo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9DF63B-BED6-0366-6005-EEBDC948AB77}"/>
              </a:ext>
            </a:extLst>
          </p:cNvPr>
          <p:cNvSpPr txBox="1"/>
          <p:nvPr/>
        </p:nvSpPr>
        <p:spPr>
          <a:xfrm>
            <a:off x="0" y="1248586"/>
            <a:ext cx="9412014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Local onde são armazenados arquivos e pastas relacionados a um projeto específico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Armazena o histórico completo do projeto, incluindo </a:t>
            </a:r>
            <a:r>
              <a:rPr lang="pt-BR" sz="2400" b="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commits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branches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b="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pull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b="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requests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merges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Permite reverter para versões anteriores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Não deve ser salvo arquivos de build (módulos, </a:t>
            </a:r>
            <a:r>
              <a:rPr lang="pt-BR" sz="24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classfiles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24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jars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), esses arquivos deverão ser mencionados no 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pt-BR" sz="2400" b="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gitignore</a:t>
            </a:r>
            <a:endParaRPr lang="pt-BR" sz="2400" b="1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Segue o padrão de nomenclatura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kebab-case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1177200" lvl="1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Separação de palavras com hífen</a:t>
            </a:r>
          </a:p>
          <a:p>
            <a:pPr marL="1177200" lvl="1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Caracteres em minúsculo</a:t>
            </a:r>
          </a:p>
          <a:p>
            <a:pPr marL="1177200" lvl="1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Evite caracteres especiais</a:t>
            </a:r>
          </a:p>
          <a:p>
            <a:pPr marL="1177200" lvl="1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Evite começar o nome do repositório com números</a:t>
            </a:r>
          </a:p>
        </p:txBody>
      </p:sp>
      <p:pic>
        <p:nvPicPr>
          <p:cNvPr id="13" name="Picture 12" descr="Git 101: What's a Git Repository and How to Create it? | by S.J. | An Idea  (by Ingenious Piece) | Medium">
            <a:extLst>
              <a:ext uri="{FF2B5EF4-FFF2-40B4-BE49-F238E27FC236}">
                <a16:creationId xmlns:a16="http://schemas.microsoft.com/office/drawing/2014/main" id="{C00D0A64-E665-4C66-21F1-9C6B7D1914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97" t="14840" r="10256" b="11339"/>
          <a:stretch>
            <a:fillRect/>
          </a:stretch>
        </p:blipFill>
        <p:spPr bwMode="auto">
          <a:xfrm>
            <a:off x="10131901" y="2668555"/>
            <a:ext cx="1745967" cy="1614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1092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96D89-06D2-EA71-761C-1136FF8F0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80F55D7-3CE8-0F11-29A0-8FEDBB9C55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ítulo 1">
            <a:extLst>
              <a:ext uri="{FF2B5EF4-FFF2-40B4-BE49-F238E27FC236}">
                <a16:creationId xmlns:a16="http://schemas.microsoft.com/office/drawing/2014/main" id="{09515AD4-6956-5E51-1588-A5B865F71FDF}"/>
              </a:ext>
            </a:extLst>
          </p:cNvPr>
          <p:cNvSpPr txBox="1">
            <a:spLocks/>
          </p:cNvSpPr>
          <p:nvPr/>
        </p:nvSpPr>
        <p:spPr>
          <a:xfrm>
            <a:off x="3048000" y="209913"/>
            <a:ext cx="6096000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55F54D2C-07EC-DCAC-F1A8-582B2555B4C6}"/>
              </a:ext>
            </a:extLst>
          </p:cNvPr>
          <p:cNvSpPr txBox="1">
            <a:spLocks/>
          </p:cNvSpPr>
          <p:nvPr/>
        </p:nvSpPr>
        <p:spPr>
          <a:xfrm>
            <a:off x="718614" y="990147"/>
            <a:ext cx="1401923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gitignore</a:t>
            </a:r>
            <a:endParaRPr lang="pt-BR" sz="2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3409D4-8E35-B7A3-9093-9E2A98E37A46}"/>
              </a:ext>
            </a:extLst>
          </p:cNvPr>
          <p:cNvSpPr txBox="1"/>
          <p:nvPr/>
        </p:nvSpPr>
        <p:spPr>
          <a:xfrm>
            <a:off x="0" y="1798428"/>
            <a:ext cx="83322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Arquivo de texto, que geralmente fica na raiz do projeto, que indica quais arquivos, pastas ou caminhos devem ser ignorados intencionalmente</a:t>
            </a:r>
          </a:p>
        </p:txBody>
      </p:sp>
      <p:pic>
        <p:nvPicPr>
          <p:cNvPr id="15" name="Picture 2" descr="gitignore: How Does it Work? - Designveloper">
            <a:extLst>
              <a:ext uri="{FF2B5EF4-FFF2-40B4-BE49-F238E27FC236}">
                <a16:creationId xmlns:a16="http://schemas.microsoft.com/office/drawing/2014/main" id="{0C6BBC94-DA60-6BC6-F7EC-D560DDCFAC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9" r="22090" b="13196"/>
          <a:stretch>
            <a:fillRect/>
          </a:stretch>
        </p:blipFill>
        <p:spPr bwMode="auto">
          <a:xfrm>
            <a:off x="8948529" y="1159174"/>
            <a:ext cx="3045245" cy="1533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6956B05-DFDE-F960-3690-5298840C4417}"/>
              </a:ext>
            </a:extLst>
          </p:cNvPr>
          <p:cNvSpPr txBox="1"/>
          <p:nvPr/>
        </p:nvSpPr>
        <p:spPr>
          <a:xfrm>
            <a:off x="0" y="2998757"/>
            <a:ext cx="11653935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Seu principal objetivo é manter artefatos de compilação, configurações do editor e outros ruídos fora do repositório, para que os </a:t>
            </a:r>
            <a:r>
              <a:rPr lang="pt-BR" sz="2400" b="1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commits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permaneçam limpos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 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ignorar um arquivo 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específico, basta escrever o nome dele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Pastas são ignoradas 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escrevendo o nome da pasta seguido por uma barra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 ignorar extensões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use, por exemplo: 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*.log 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 instrui o Git a ignorar todos os arquivos que terminam em 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.log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independentemente do nome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Linhas que começam com 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#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são ignoradas (comentários)</a:t>
            </a:r>
          </a:p>
        </p:txBody>
      </p:sp>
    </p:spTree>
    <p:extLst>
      <p:ext uri="{BB962C8B-B14F-4D97-AF65-F5344CB8AC3E}">
        <p14:creationId xmlns:p14="http://schemas.microsoft.com/office/powerpoint/2010/main" val="1566847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24555-F845-8DF4-B447-558A34DF8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BC884ED-A89D-8810-8992-F9626FF5D7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ítulo 1">
            <a:extLst>
              <a:ext uri="{FF2B5EF4-FFF2-40B4-BE49-F238E27FC236}">
                <a16:creationId xmlns:a16="http://schemas.microsoft.com/office/drawing/2014/main" id="{913EF4FD-3023-70FD-3432-94038E8CF2EF}"/>
              </a:ext>
            </a:extLst>
          </p:cNvPr>
          <p:cNvSpPr txBox="1">
            <a:spLocks/>
          </p:cNvSpPr>
          <p:nvPr/>
        </p:nvSpPr>
        <p:spPr>
          <a:xfrm>
            <a:off x="3048000" y="209913"/>
            <a:ext cx="6096000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E2AD8473-20F3-8DA2-80FF-B490EC62A5DC}"/>
              </a:ext>
            </a:extLst>
          </p:cNvPr>
          <p:cNvSpPr txBox="1">
            <a:spLocks/>
          </p:cNvSpPr>
          <p:nvPr/>
        </p:nvSpPr>
        <p:spPr>
          <a:xfrm>
            <a:off x="732190" y="1188180"/>
            <a:ext cx="1322616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README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E71246-6F9A-30F2-4E01-D3AD77366A78}"/>
              </a:ext>
            </a:extLst>
          </p:cNvPr>
          <p:cNvSpPr txBox="1"/>
          <p:nvPr/>
        </p:nvSpPr>
        <p:spPr>
          <a:xfrm>
            <a:off x="0" y="1933394"/>
            <a:ext cx="7021286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Arquivo de texto que fornece informações sobre o repositório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Serve como ponto de entrada principal para usuários e colaboradores, oferecendo uma visão geral do projeto, além de instruções sobre como utilizá-lo, contribuir ou configurá-lo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93450B5-3F88-E07F-F74E-6BE27E6EAF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745444"/>
            <a:ext cx="2915110" cy="547979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74DA980-F468-17D0-4D57-23476BF7E030}"/>
              </a:ext>
            </a:extLst>
          </p:cNvPr>
          <p:cNvSpPr txBox="1"/>
          <p:nvPr/>
        </p:nvSpPr>
        <p:spPr>
          <a:xfrm>
            <a:off x="0" y="5031183"/>
            <a:ext cx="509451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8500">
              <a:spcBef>
                <a:spcPts val="600"/>
              </a:spcBef>
            </a:pP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Agora: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Vamos criar um repositório e fazer o push de um arquivo</a:t>
            </a:r>
          </a:p>
        </p:txBody>
      </p:sp>
    </p:spTree>
    <p:extLst>
      <p:ext uri="{BB962C8B-B14F-4D97-AF65-F5344CB8AC3E}">
        <p14:creationId xmlns:p14="http://schemas.microsoft.com/office/powerpoint/2010/main" val="1723038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DE27F-E3CD-C692-EBB3-96E93F6AB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6FEDF57-012B-F2A2-9545-C934550EAB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54C306CE-EB21-2D50-B2B9-C1E18FACDA79}"/>
              </a:ext>
            </a:extLst>
          </p:cNvPr>
          <p:cNvSpPr txBox="1">
            <a:spLocks/>
          </p:cNvSpPr>
          <p:nvPr/>
        </p:nvSpPr>
        <p:spPr>
          <a:xfrm>
            <a:off x="3048000" y="209913"/>
            <a:ext cx="6096000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73C13A49-471B-3B18-F22A-4980CCEF299B}"/>
              </a:ext>
            </a:extLst>
          </p:cNvPr>
          <p:cNvSpPr txBox="1">
            <a:spLocks/>
          </p:cNvSpPr>
          <p:nvPr/>
        </p:nvSpPr>
        <p:spPr>
          <a:xfrm>
            <a:off x="698007" y="1164461"/>
            <a:ext cx="1797366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Staging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 Area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3AF851-1766-132D-45B3-9D363C96D4DB}"/>
              </a:ext>
            </a:extLst>
          </p:cNvPr>
          <p:cNvSpPr txBox="1"/>
          <p:nvPr/>
        </p:nvSpPr>
        <p:spPr>
          <a:xfrm>
            <a:off x="-1" y="2008209"/>
            <a:ext cx="11135171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Funciona como um espaço intermediário entre o diretório de trabalho e o repositório onde você escolhe as alterações que deseja incluir no próximo commit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Permite selecionar com precisão o que será incluído no próximo 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commit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Facilita a organização das mudanças, especialmente em projetos grandes ou com muitas alterações simultâneas</a:t>
            </a:r>
          </a:p>
        </p:txBody>
      </p:sp>
    </p:spTree>
    <p:extLst>
      <p:ext uri="{BB962C8B-B14F-4D97-AF65-F5344CB8AC3E}">
        <p14:creationId xmlns:p14="http://schemas.microsoft.com/office/powerpoint/2010/main" val="3549835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B79C7-0F22-1151-CEBE-1CCABA2FD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6F16726-B10D-C256-72B2-2A8B068261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3E6355BB-AE0C-6585-32D7-9B7E09CB1002}"/>
              </a:ext>
            </a:extLst>
          </p:cNvPr>
          <p:cNvSpPr txBox="1">
            <a:spLocks/>
          </p:cNvSpPr>
          <p:nvPr/>
        </p:nvSpPr>
        <p:spPr>
          <a:xfrm>
            <a:off x="3048000" y="209913"/>
            <a:ext cx="6096000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9045B56B-AA40-6C07-A8C3-F1681958D659}"/>
              </a:ext>
            </a:extLst>
          </p:cNvPr>
          <p:cNvSpPr txBox="1">
            <a:spLocks/>
          </p:cNvSpPr>
          <p:nvPr/>
        </p:nvSpPr>
        <p:spPr>
          <a:xfrm>
            <a:off x="684055" y="745444"/>
            <a:ext cx="1187475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Commit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195E37-FA6A-3FA8-2D7E-BD4A7674AED5}"/>
              </a:ext>
            </a:extLst>
          </p:cNvPr>
          <p:cNvSpPr txBox="1"/>
          <p:nvPr/>
        </p:nvSpPr>
        <p:spPr>
          <a:xfrm>
            <a:off x="0" y="1396378"/>
            <a:ext cx="11691258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Salva as mudanças feitas no projeto, seja adições, edições, exclusões ou movimentações de arquivos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Cada commit é acompanhado por uma mensagem que fornece uma descrição concisa do que foi alterado ou adicionado no commit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convenção é usar: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Inglês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Imperativo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“</a:t>
            </a:r>
            <a:r>
              <a:rPr lang="pt-BR" sz="240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fix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bug”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Português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Presente do indicativo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“conserta bug”</a:t>
            </a:r>
          </a:p>
        </p:txBody>
      </p:sp>
    </p:spTree>
    <p:extLst>
      <p:ext uri="{BB962C8B-B14F-4D97-AF65-F5344CB8AC3E}">
        <p14:creationId xmlns:p14="http://schemas.microsoft.com/office/powerpoint/2010/main" val="3988556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20C58-088D-88C1-53AD-770BAA654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AC66DC3-4677-EFA7-BD34-8381B88BFD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4035C651-EA1E-2079-C0CE-AAB717A275D0}"/>
              </a:ext>
            </a:extLst>
          </p:cNvPr>
          <p:cNvSpPr txBox="1">
            <a:spLocks/>
          </p:cNvSpPr>
          <p:nvPr/>
        </p:nvSpPr>
        <p:spPr>
          <a:xfrm>
            <a:off x="3048000" y="209913"/>
            <a:ext cx="6096000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384AB405-D5AF-71E0-8888-5FEEF2DECBC3}"/>
              </a:ext>
            </a:extLst>
          </p:cNvPr>
          <p:cNvSpPr txBox="1">
            <a:spLocks/>
          </p:cNvSpPr>
          <p:nvPr/>
        </p:nvSpPr>
        <p:spPr>
          <a:xfrm>
            <a:off x="678265" y="1074077"/>
            <a:ext cx="3059003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Mensagem de commit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31676D-2D02-7F30-C5F2-B1FCD67DDAD5}"/>
              </a:ext>
            </a:extLst>
          </p:cNvPr>
          <p:cNvSpPr txBox="1"/>
          <p:nvPr/>
        </p:nvSpPr>
        <p:spPr>
          <a:xfrm>
            <a:off x="0" y="1636201"/>
            <a:ext cx="11215396" cy="3585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Além do texto da mensagem é comum colocar o tipo do commit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Tipo de mudança</a:t>
            </a:r>
          </a:p>
          <a:p>
            <a:pPr marL="1177200" lvl="1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feat: 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Nova funcionalidade - 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feat: adiciona suporte a login</a:t>
            </a:r>
          </a:p>
          <a:p>
            <a:pPr marL="1177200" lvl="1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b="1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fix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Correção de bug - </a:t>
            </a:r>
            <a:r>
              <a:rPr lang="pt-BR" sz="2400" b="1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fix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corrige alinhamento de botão</a:t>
            </a:r>
          </a:p>
          <a:p>
            <a:pPr marL="1177200" lvl="1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b="1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refactor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Reestruturação de código - </a:t>
            </a:r>
            <a:r>
              <a:rPr lang="pt-BR" sz="2400" b="1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refactor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simplifica tratamento de erros</a:t>
            </a:r>
          </a:p>
          <a:p>
            <a:pPr marL="1177200" lvl="1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b="1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docs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Mudanças na documentação - </a:t>
            </a:r>
            <a:r>
              <a:rPr lang="pt-BR" sz="2400" b="1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docs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atualiza </a:t>
            </a:r>
            <a:r>
              <a:rPr lang="pt-BR" sz="2400" b="1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schema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do banco de dados</a:t>
            </a:r>
          </a:p>
          <a:p>
            <a:pPr marL="1177200" lvl="1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b="1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comment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Adição de comentários - </a:t>
            </a:r>
            <a:r>
              <a:rPr lang="pt-BR" sz="2400" b="1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comment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adiciona comentários</a:t>
            </a:r>
          </a:p>
          <a:p>
            <a:pPr marL="1177200" lvl="1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b="1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style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Indentação e separação de linhas 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pt-BR" sz="2400" b="1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style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remove linha em branco</a:t>
            </a:r>
          </a:p>
        </p:txBody>
      </p:sp>
    </p:spTree>
    <p:extLst>
      <p:ext uri="{BB962C8B-B14F-4D97-AF65-F5344CB8AC3E}">
        <p14:creationId xmlns:p14="http://schemas.microsoft.com/office/powerpoint/2010/main" val="2302484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EE89A-471E-8FA3-7545-0895F92B0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28B47DF-DF31-0908-A316-4A53B1B3B6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D054A4D8-BBEA-154E-3338-4444BE16DDBB}"/>
              </a:ext>
            </a:extLst>
          </p:cNvPr>
          <p:cNvSpPr txBox="1">
            <a:spLocks/>
          </p:cNvSpPr>
          <p:nvPr/>
        </p:nvSpPr>
        <p:spPr>
          <a:xfrm>
            <a:off x="3048000" y="209913"/>
            <a:ext cx="6096000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EC64CBE-0C2F-856A-3CDC-C9410CA454FC}"/>
              </a:ext>
            </a:extLst>
          </p:cNvPr>
          <p:cNvSpPr txBox="1">
            <a:spLocks/>
          </p:cNvSpPr>
          <p:nvPr/>
        </p:nvSpPr>
        <p:spPr>
          <a:xfrm>
            <a:off x="591642" y="1147369"/>
            <a:ext cx="1570444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Push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 / </a:t>
            </a:r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Pull</a:t>
            </a:r>
            <a:endParaRPr lang="pt-BR" sz="2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7CE66C-EA93-33B2-58A4-64856D0FE4DF}"/>
              </a:ext>
            </a:extLst>
          </p:cNvPr>
          <p:cNvSpPr txBox="1"/>
          <p:nvPr/>
        </p:nvSpPr>
        <p:spPr>
          <a:xfrm>
            <a:off x="-2" y="2008209"/>
            <a:ext cx="11989751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Push</a:t>
            </a:r>
            <a:endParaRPr lang="pt-BR" sz="2400" b="1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Ação de fazer upload da sua versão local para um repositório, disponibilizando suas alterações para outros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Pull</a:t>
            </a:r>
            <a:endParaRPr lang="pt-BR" sz="2400" b="1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Processo de fazer download das alterações de um repositório para a sua versão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Usado para buscar e integrar mudanças do repositório remoto para o seu branch local</a:t>
            </a:r>
          </a:p>
        </p:txBody>
      </p:sp>
    </p:spTree>
    <p:extLst>
      <p:ext uri="{BB962C8B-B14F-4D97-AF65-F5344CB8AC3E}">
        <p14:creationId xmlns:p14="http://schemas.microsoft.com/office/powerpoint/2010/main" val="16590759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7F055-9FD3-C9DA-2CA2-11BE2CFF3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B114B28-4784-6ACF-439A-CD193A551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B196D4BD-42E1-8F43-AA97-6E4DF004AC13}"/>
              </a:ext>
            </a:extLst>
          </p:cNvPr>
          <p:cNvSpPr txBox="1">
            <a:spLocks/>
          </p:cNvSpPr>
          <p:nvPr/>
        </p:nvSpPr>
        <p:spPr>
          <a:xfrm>
            <a:off x="3048000" y="209913"/>
            <a:ext cx="6096000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61C76DB5-7509-D6B5-C502-FD3C874E150D}"/>
              </a:ext>
            </a:extLst>
          </p:cNvPr>
          <p:cNvSpPr txBox="1">
            <a:spLocks/>
          </p:cNvSpPr>
          <p:nvPr/>
        </p:nvSpPr>
        <p:spPr>
          <a:xfrm>
            <a:off x="722984" y="1478999"/>
            <a:ext cx="1986644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Instalando Git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7CAFEA-B3D4-24D0-08BC-6BB96A1A571D}"/>
              </a:ext>
            </a:extLst>
          </p:cNvPr>
          <p:cNvSpPr txBox="1"/>
          <p:nvPr/>
        </p:nvSpPr>
        <p:spPr>
          <a:xfrm>
            <a:off x="-1" y="2208183"/>
            <a:ext cx="79732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 checar se você tem o Git instalado na sua máquina, abra o </a:t>
            </a:r>
            <a:r>
              <a:rPr lang="pt-BR" sz="240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cmd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 digite: 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 --</a:t>
            </a:r>
            <a:r>
              <a:rPr lang="pt-BR" sz="2400" b="1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version</a:t>
            </a:r>
            <a:endParaRPr lang="pt-BR" sz="2400" b="1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201BAE-A3F8-C170-9CFC-A0AF5FCA0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5276" y="3429000"/>
            <a:ext cx="6181448" cy="246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121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CB133-448D-5517-850E-E3C707DE7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93D5C26-5C0B-079A-5BE6-E8F1845B72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BD797A38-350B-7530-63CB-11D5B9A72E42}"/>
              </a:ext>
            </a:extLst>
          </p:cNvPr>
          <p:cNvSpPr txBox="1">
            <a:spLocks/>
          </p:cNvSpPr>
          <p:nvPr/>
        </p:nvSpPr>
        <p:spPr>
          <a:xfrm>
            <a:off x="3048000" y="209913"/>
            <a:ext cx="6096000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DA395F64-49DC-9EB8-144D-62E20305BEE5}"/>
              </a:ext>
            </a:extLst>
          </p:cNvPr>
          <p:cNvSpPr txBox="1">
            <a:spLocks/>
          </p:cNvSpPr>
          <p:nvPr/>
        </p:nvSpPr>
        <p:spPr>
          <a:xfrm>
            <a:off x="638137" y="969677"/>
            <a:ext cx="1986644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Instalando Git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8E28EA-3838-0E22-D51D-ED249DB35E51}"/>
              </a:ext>
            </a:extLst>
          </p:cNvPr>
          <p:cNvSpPr txBox="1"/>
          <p:nvPr/>
        </p:nvSpPr>
        <p:spPr>
          <a:xfrm>
            <a:off x="0" y="1685669"/>
            <a:ext cx="8899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Caso você não tenha instalado, acesse o site do Git para baixar</a:t>
            </a:r>
          </a:p>
        </p:txBody>
      </p:sp>
      <p:pic>
        <p:nvPicPr>
          <p:cNvPr id="9" name="Picture 8">
            <a:hlinkClick r:id="rId3"/>
            <a:extLst>
              <a:ext uri="{FF2B5EF4-FFF2-40B4-BE49-F238E27FC236}">
                <a16:creationId xmlns:a16="http://schemas.microsoft.com/office/drawing/2014/main" id="{92796A78-C7A4-0245-C789-5005C10B0F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68"/>
          <a:stretch>
            <a:fillRect/>
          </a:stretch>
        </p:blipFill>
        <p:spPr>
          <a:xfrm>
            <a:off x="3650172" y="2610960"/>
            <a:ext cx="4891655" cy="34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493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5A315-A2FD-7531-6DEA-1A2B0A8FB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8CE370C-E7EB-435A-A180-BE03DE0390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20E25AF8-9DD7-EB0B-84F2-4CEF4B1546E7}"/>
              </a:ext>
            </a:extLst>
          </p:cNvPr>
          <p:cNvSpPr txBox="1">
            <a:spLocks/>
          </p:cNvSpPr>
          <p:nvPr/>
        </p:nvSpPr>
        <p:spPr>
          <a:xfrm>
            <a:off x="3048000" y="209913"/>
            <a:ext cx="6096000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6CCFEE0B-9EB5-2C68-C0AC-6EC8555365BC}"/>
              </a:ext>
            </a:extLst>
          </p:cNvPr>
          <p:cNvSpPr txBox="1">
            <a:spLocks/>
          </p:cNvSpPr>
          <p:nvPr/>
        </p:nvSpPr>
        <p:spPr>
          <a:xfrm>
            <a:off x="669318" y="756745"/>
            <a:ext cx="4723776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Iniciando um repositório na nuvem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A1CA75-42AB-8319-3CE0-5CC985BF3806}"/>
              </a:ext>
            </a:extLst>
          </p:cNvPr>
          <p:cNvSpPr txBox="1"/>
          <p:nvPr/>
        </p:nvSpPr>
        <p:spPr>
          <a:xfrm>
            <a:off x="0" y="1320527"/>
            <a:ext cx="118055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Assim que um repositório no GitHub é criado, essa tela aparece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68759B-A83F-1822-F6BF-01A348209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4613" y="1921242"/>
            <a:ext cx="5756330" cy="37233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A64A0EE-1A02-A6A1-BC8E-C6A2DAA7F9CD}"/>
              </a:ext>
            </a:extLst>
          </p:cNvPr>
          <p:cNvSpPr txBox="1"/>
          <p:nvPr/>
        </p:nvSpPr>
        <p:spPr>
          <a:xfrm>
            <a:off x="0" y="5468137"/>
            <a:ext cx="6096000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7600">
              <a:spcBef>
                <a:spcPts val="600"/>
              </a:spcBef>
            </a:pP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Agora:</a:t>
            </a:r>
          </a:p>
          <a:p>
            <a:pPr marL="720000" lvl="1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Vamos criar um repositório no GitHub</a:t>
            </a:r>
          </a:p>
        </p:txBody>
      </p:sp>
    </p:spTree>
    <p:extLst>
      <p:ext uri="{BB962C8B-B14F-4D97-AF65-F5344CB8AC3E}">
        <p14:creationId xmlns:p14="http://schemas.microsoft.com/office/powerpoint/2010/main" val="1471609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99216-7A69-0DB7-7D58-A31DD2AE3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E675283-384C-55B5-06AE-1A934DD3C9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4F5B75F2-A251-700F-F84B-54F1326D4A91}"/>
              </a:ext>
            </a:extLst>
          </p:cNvPr>
          <p:cNvSpPr txBox="1">
            <a:spLocks/>
          </p:cNvSpPr>
          <p:nvPr/>
        </p:nvSpPr>
        <p:spPr>
          <a:xfrm>
            <a:off x="3048000" y="209913"/>
            <a:ext cx="6096000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A007020C-510C-FC1A-4EE9-7B43DEDE5E90}"/>
              </a:ext>
            </a:extLst>
          </p:cNvPr>
          <p:cNvSpPr txBox="1">
            <a:spLocks/>
          </p:cNvSpPr>
          <p:nvPr/>
        </p:nvSpPr>
        <p:spPr>
          <a:xfrm>
            <a:off x="718379" y="913919"/>
            <a:ext cx="3956257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Iniciando um repositório local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22E8F3-6A24-7394-CE26-4F167933A5A0}"/>
              </a:ext>
            </a:extLst>
          </p:cNvPr>
          <p:cNvSpPr txBox="1"/>
          <p:nvPr/>
        </p:nvSpPr>
        <p:spPr>
          <a:xfrm>
            <a:off x="0" y="1380347"/>
            <a:ext cx="9398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Crie uma pasta no seu computador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Habilite a visualização da extensão dos arquivos e pastas ocultas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Crie os arquivos de programação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Abra algum terminal no caminho do diretório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Execute os comandos do Git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153A5F-96D8-668C-FE34-C5586FE949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33" t="52340" r="50000" b="23681"/>
          <a:stretch/>
        </p:blipFill>
        <p:spPr>
          <a:xfrm>
            <a:off x="2705988" y="3690611"/>
            <a:ext cx="6780024" cy="2253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0382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38F90-D70B-D30A-3139-EBEA33D8B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5453EA6-DEE1-11B7-06C9-D3E4AA6C8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40A2CBB0-A7EC-D832-BB90-BDFF46B25977}"/>
              </a:ext>
            </a:extLst>
          </p:cNvPr>
          <p:cNvSpPr txBox="1">
            <a:spLocks/>
          </p:cNvSpPr>
          <p:nvPr/>
        </p:nvSpPr>
        <p:spPr>
          <a:xfrm>
            <a:off x="3048000" y="209913"/>
            <a:ext cx="6096000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A08FBD78-B79C-8194-9A26-ED04E258BA52}"/>
              </a:ext>
            </a:extLst>
          </p:cNvPr>
          <p:cNvSpPr txBox="1">
            <a:spLocks/>
          </p:cNvSpPr>
          <p:nvPr/>
        </p:nvSpPr>
        <p:spPr>
          <a:xfrm>
            <a:off x="658027" y="779497"/>
            <a:ext cx="3307222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Iniciando um repositório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065D21-E1CE-B5D9-AE94-43BD10D9DA74}"/>
              </a:ext>
            </a:extLst>
          </p:cNvPr>
          <p:cNvSpPr txBox="1"/>
          <p:nvPr/>
        </p:nvSpPr>
        <p:spPr>
          <a:xfrm>
            <a:off x="0" y="1195684"/>
            <a:ext cx="1180555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echo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"# tutorial" &gt;&gt; README.md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Escreve no arquivo README.md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 </a:t>
            </a:r>
            <a:r>
              <a:rPr lang="pt-BR" sz="2400" b="1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init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Inicializa um repositório na pasta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 add . 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Adiciona todos os arquivos na Staging Area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 commit –m “first commit” 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Faz o commit dos arquivos com uma mensagem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 branch –M main 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Renomeia a branch principal para main (nomenclatura moderna)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 remote add...  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Conecta o repositório local ao seu repositório no GitHub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 push –u origin main 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Faz o push do commit para o GitHub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F5260CE-0B09-DA3F-2773-BEF36C5B76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33" t="52340" r="50000" b="23681"/>
          <a:stretch/>
        </p:blipFill>
        <p:spPr>
          <a:xfrm>
            <a:off x="2820709" y="4573710"/>
            <a:ext cx="6550582" cy="217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384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03A14-1BC8-6D9E-265D-8A7BE27ED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024C006-FBAD-3504-32A9-0051CEA36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58FFB7E0-A138-D348-4C41-5DD2A0C767A2}"/>
              </a:ext>
            </a:extLst>
          </p:cNvPr>
          <p:cNvSpPr txBox="1">
            <a:spLocks/>
          </p:cNvSpPr>
          <p:nvPr/>
        </p:nvSpPr>
        <p:spPr>
          <a:xfrm>
            <a:off x="3048000" y="209913"/>
            <a:ext cx="6096000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D55F50EB-06FD-4093-1C2C-BB7BDF70007F}"/>
              </a:ext>
            </a:extLst>
          </p:cNvPr>
          <p:cNvSpPr txBox="1">
            <a:spLocks/>
          </p:cNvSpPr>
          <p:nvPr/>
        </p:nvSpPr>
        <p:spPr>
          <a:xfrm>
            <a:off x="564022" y="719677"/>
            <a:ext cx="3407228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Push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Pull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 no terminal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A8616B-F8FB-CB9E-4A55-3E990057E38A}"/>
              </a:ext>
            </a:extLst>
          </p:cNvPr>
          <p:cNvSpPr txBox="1"/>
          <p:nvPr/>
        </p:nvSpPr>
        <p:spPr>
          <a:xfrm>
            <a:off x="0" y="1195684"/>
            <a:ext cx="7135737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 fazer um </a:t>
            </a:r>
            <a:r>
              <a:rPr lang="pt-BR" sz="2400" b="1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push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em um repositório do GitHub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 add . 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 commit –m “mensagem de commit”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 push –u origin main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E0F1FDF-7516-B3AC-DB2A-17DCDB35A3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345" r="33232" b="14263"/>
          <a:stretch/>
        </p:blipFill>
        <p:spPr>
          <a:xfrm>
            <a:off x="7743827" y="1019791"/>
            <a:ext cx="3898899" cy="258731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A636DEC-0459-721F-4AEF-58D2DF9A4593}"/>
              </a:ext>
            </a:extLst>
          </p:cNvPr>
          <p:cNvSpPr txBox="1"/>
          <p:nvPr/>
        </p:nvSpPr>
        <p:spPr>
          <a:xfrm>
            <a:off x="1" y="3455558"/>
            <a:ext cx="7021286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 fazer um </a:t>
            </a:r>
            <a:r>
              <a:rPr lang="pt-BR" sz="2400" b="1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pull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 um repositório do GitHub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 </a:t>
            </a:r>
            <a:r>
              <a:rPr lang="pt-BR" sz="240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pull</a:t>
            </a:r>
            <a:endParaRPr lang="pt-BR" sz="240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C178381-4BE9-5E57-A888-7ACBF54AF9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664" r="2903" b="14936"/>
          <a:stretch/>
        </p:blipFill>
        <p:spPr>
          <a:xfrm>
            <a:off x="3456976" y="4218037"/>
            <a:ext cx="5278048" cy="2212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258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424B0-694A-DDD6-4892-BBF0C1D10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D1AB42F-EF10-A2E7-FD56-C46D4A5D61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035F8110-C780-0592-B01E-889AA7ED6AAA}"/>
              </a:ext>
            </a:extLst>
          </p:cNvPr>
          <p:cNvSpPr txBox="1">
            <a:spLocks/>
          </p:cNvSpPr>
          <p:nvPr/>
        </p:nvSpPr>
        <p:spPr>
          <a:xfrm>
            <a:off x="3048000" y="209913"/>
            <a:ext cx="6096000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5EEDD9F6-C331-14B2-5C6F-8479B5275AFA}"/>
              </a:ext>
            </a:extLst>
          </p:cNvPr>
          <p:cNvSpPr txBox="1">
            <a:spLocks/>
          </p:cNvSpPr>
          <p:nvPr/>
        </p:nvSpPr>
        <p:spPr>
          <a:xfrm>
            <a:off x="719830" y="1376829"/>
            <a:ext cx="912417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Clone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0414CA-A080-F2DA-E02A-1EC94F3D510A}"/>
              </a:ext>
            </a:extLst>
          </p:cNvPr>
          <p:cNvSpPr txBox="1"/>
          <p:nvPr/>
        </p:nvSpPr>
        <p:spPr>
          <a:xfrm>
            <a:off x="0" y="2063573"/>
            <a:ext cx="7272471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Cria uma cópia local de um repositório existente, permitindo que você trabalhe e faça alterações no projeto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cópia local é totalmente funcional, o que significa que você pode editar arquivos e fazer </a:t>
            </a:r>
            <a:r>
              <a:rPr lang="pt-BR" sz="240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commits</a:t>
            </a:r>
            <a:endParaRPr lang="pt-BR" sz="240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0E1269-272A-601C-3D25-18A0ADE678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14" r="3061"/>
          <a:stretch/>
        </p:blipFill>
        <p:spPr>
          <a:xfrm>
            <a:off x="8232122" y="2063573"/>
            <a:ext cx="3545038" cy="2092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753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D0684-CE9D-1D68-6483-D58052EA0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FB6DD20-EA37-CDEE-D1AD-F2E518E523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12F9F82B-5771-B0DD-3DAF-E487D88F10D5}"/>
              </a:ext>
            </a:extLst>
          </p:cNvPr>
          <p:cNvSpPr txBox="1">
            <a:spLocks/>
          </p:cNvSpPr>
          <p:nvPr/>
        </p:nvSpPr>
        <p:spPr>
          <a:xfrm>
            <a:off x="3048000" y="209913"/>
            <a:ext cx="6096000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D1886CB6-FE87-9EAA-EEEF-0048A585457A}"/>
              </a:ext>
            </a:extLst>
          </p:cNvPr>
          <p:cNvSpPr txBox="1">
            <a:spLocks/>
          </p:cNvSpPr>
          <p:nvPr/>
        </p:nvSpPr>
        <p:spPr>
          <a:xfrm>
            <a:off x="690226" y="719444"/>
            <a:ext cx="3351935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Clonando um repositório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681E01-53E7-B96F-A686-06824CE733D0}"/>
              </a:ext>
            </a:extLst>
          </p:cNvPr>
          <p:cNvSpPr txBox="1"/>
          <p:nvPr/>
        </p:nvSpPr>
        <p:spPr>
          <a:xfrm>
            <a:off x="0" y="1195684"/>
            <a:ext cx="1163937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 clonar um repositório do GitHub em um repositório local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Vá no repositório do GitHub e pegue o link dele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Digite no terminal dentro da pasta do repositório: git clone &lt;link&gt;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 clone https://github.com/HenriqueDelegrego/tutorial.git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Isso vai fazer com que o repositório do GitHub se conecte ao seu repositório local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0EBDDFC-23FE-D95C-955D-59F16C4A6F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18607"/>
          <a:stretch/>
        </p:blipFill>
        <p:spPr>
          <a:xfrm>
            <a:off x="408214" y="3635021"/>
            <a:ext cx="7806623" cy="271163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44CC8C8-252F-B3B7-B4BC-87EEDE477BAD}"/>
              </a:ext>
            </a:extLst>
          </p:cNvPr>
          <p:cNvSpPr txBox="1"/>
          <p:nvPr/>
        </p:nvSpPr>
        <p:spPr>
          <a:xfrm>
            <a:off x="8326016" y="4371819"/>
            <a:ext cx="3686564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7600">
              <a:spcBef>
                <a:spcPts val="600"/>
              </a:spcBef>
            </a:pP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Agora:</a:t>
            </a:r>
          </a:p>
          <a:p>
            <a:pPr marL="720000" lvl="1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Vamos fazer clone de um repositório</a:t>
            </a:r>
          </a:p>
          <a:p>
            <a:pPr marL="720000" lvl="1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Fazer exercícios 1 e 2</a:t>
            </a:r>
          </a:p>
        </p:txBody>
      </p:sp>
    </p:spTree>
    <p:extLst>
      <p:ext uri="{BB962C8B-B14F-4D97-AF65-F5344CB8AC3E}">
        <p14:creationId xmlns:p14="http://schemas.microsoft.com/office/powerpoint/2010/main" val="4278027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401AE-4D6F-43F5-08D2-A17A153BA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C093869-27F6-3C30-A892-A7864AEFBE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F563C3D7-6550-6956-572B-C0274B43F5C9}"/>
              </a:ext>
            </a:extLst>
          </p:cNvPr>
          <p:cNvSpPr txBox="1">
            <a:spLocks/>
          </p:cNvSpPr>
          <p:nvPr/>
        </p:nvSpPr>
        <p:spPr>
          <a:xfrm>
            <a:off x="3048000" y="209913"/>
            <a:ext cx="6096000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422D6F15-DD89-CFAA-B3F0-EF353F4206A6}"/>
              </a:ext>
            </a:extLst>
          </p:cNvPr>
          <p:cNvSpPr txBox="1">
            <a:spLocks/>
          </p:cNvSpPr>
          <p:nvPr/>
        </p:nvSpPr>
        <p:spPr>
          <a:xfrm>
            <a:off x="719829" y="1275557"/>
            <a:ext cx="1074788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Branch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08A097-7419-ED2D-7C10-38877FACAF83}"/>
              </a:ext>
            </a:extLst>
          </p:cNvPr>
          <p:cNvSpPr txBox="1"/>
          <p:nvPr/>
        </p:nvSpPr>
        <p:spPr>
          <a:xfrm>
            <a:off x="0" y="2008209"/>
            <a:ext cx="6452075" cy="1646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Linha de desenvolvimento separada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Utilizado para organizar, isolar e controlar mudanças no código sem afetar diretamente o código principal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5DA17A-C2F7-A951-A7D0-AA7E0A7364D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04" t="6020" r="2792" b="27770"/>
          <a:stretch/>
        </p:blipFill>
        <p:spPr>
          <a:xfrm>
            <a:off x="6556587" y="1494492"/>
            <a:ext cx="5420810" cy="179511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4F21050-A9E9-7CCE-BFB3-31918EE71978}"/>
              </a:ext>
            </a:extLst>
          </p:cNvPr>
          <p:cNvSpPr txBox="1"/>
          <p:nvPr/>
        </p:nvSpPr>
        <p:spPr>
          <a:xfrm>
            <a:off x="-1" y="3654814"/>
            <a:ext cx="115326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Possibilita desenvolver duas ou mais versões do software simultaneamente. Por exemplo, uma versão que tem o código funcionando, mas não possui novas funcionalidades e outra versão onde novas funcionalidades estão sendo trabalhadas</a:t>
            </a:r>
          </a:p>
        </p:txBody>
      </p:sp>
    </p:spTree>
    <p:extLst>
      <p:ext uri="{BB962C8B-B14F-4D97-AF65-F5344CB8AC3E}">
        <p14:creationId xmlns:p14="http://schemas.microsoft.com/office/powerpoint/2010/main" val="11643195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411AC-6C8E-A6CE-C1D1-911AF3653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3AF53A3-2891-656D-4E95-06CC837E4B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EAC6ABE5-5C1D-8FCD-584C-13E12E38DCA4}"/>
              </a:ext>
            </a:extLst>
          </p:cNvPr>
          <p:cNvSpPr txBox="1">
            <a:spLocks/>
          </p:cNvSpPr>
          <p:nvPr/>
        </p:nvSpPr>
        <p:spPr>
          <a:xfrm>
            <a:off x="3048000" y="209913"/>
            <a:ext cx="6096000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468DB460-F61B-6D4E-9606-AAA4C07C78EA}"/>
              </a:ext>
            </a:extLst>
          </p:cNvPr>
          <p:cNvSpPr txBox="1">
            <a:spLocks/>
          </p:cNvSpPr>
          <p:nvPr/>
        </p:nvSpPr>
        <p:spPr>
          <a:xfrm>
            <a:off x="764953" y="1144126"/>
            <a:ext cx="395401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Pull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Request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 / Merge </a:t>
            </a:r>
            <a:r>
              <a:rPr lang="pt-BR" sz="2400" err="1">
                <a:latin typeface="Calibri" panose="020F0502020204030204" pitchFamily="34" charset="0"/>
                <a:cs typeface="Calibri" panose="020F0502020204030204" pitchFamily="34" charset="0"/>
              </a:rPr>
              <a:t>Request</a:t>
            </a:r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 (PR / MR)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4A4313-2D17-A6BA-DBF8-BE186C92832E}"/>
              </a:ext>
            </a:extLst>
          </p:cNvPr>
          <p:cNvSpPr txBox="1"/>
          <p:nvPr/>
        </p:nvSpPr>
        <p:spPr>
          <a:xfrm>
            <a:off x="0" y="2139398"/>
            <a:ext cx="59542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Permite um desenvolvedor propor alterações em um código para revisão antes que elas sejam incorporadas na branch principal do projeto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07642F-FD85-D67C-DCAD-3B50B59B2A64}"/>
              </a:ext>
            </a:extLst>
          </p:cNvPr>
          <p:cNvSpPr txBox="1"/>
          <p:nvPr/>
        </p:nvSpPr>
        <p:spPr>
          <a:xfrm>
            <a:off x="0" y="3709058"/>
            <a:ext cx="113538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É aberto um espaço para que outros desenvolvedores revisem, discutam e sugiram modificações antes de as alterações serem mescladas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Uma vez que o PR foi revisado e aprovado pelos membros necessários da equipe, pode ser feito o 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merge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Caso as mudanças não forem necessárias ou soluções melhores terem sido encontradas, um PR pode não ser aceito e fechado sem ser feito o merge</a:t>
            </a:r>
          </a:p>
        </p:txBody>
      </p:sp>
      <p:pic>
        <p:nvPicPr>
          <p:cNvPr id="11" name="Picture 10" descr="Pull/Merge Requests: seguindo boas práticas | by Henrique Braga | luizalabs  | Medium">
            <a:extLst>
              <a:ext uri="{FF2B5EF4-FFF2-40B4-BE49-F238E27FC236}">
                <a16:creationId xmlns:a16="http://schemas.microsoft.com/office/drawing/2014/main" id="{5792287F-58BA-9D53-A978-31C74327D6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22"/>
          <a:stretch/>
        </p:blipFill>
        <p:spPr bwMode="auto">
          <a:xfrm>
            <a:off x="6237732" y="1052582"/>
            <a:ext cx="5812535" cy="1697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37550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64343-8062-FEB3-7D00-996F94DB8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99E8D23-7A89-C84C-FD82-8425E8756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5DAFFF8A-872B-B697-FF13-CC251F4C5802}"/>
              </a:ext>
            </a:extLst>
          </p:cNvPr>
          <p:cNvSpPr txBox="1">
            <a:spLocks/>
          </p:cNvSpPr>
          <p:nvPr/>
        </p:nvSpPr>
        <p:spPr>
          <a:xfrm>
            <a:off x="3048000" y="209913"/>
            <a:ext cx="6096000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D563AFF8-9762-618F-66AD-8817366BFDB1}"/>
              </a:ext>
            </a:extLst>
          </p:cNvPr>
          <p:cNvSpPr txBox="1">
            <a:spLocks/>
          </p:cNvSpPr>
          <p:nvPr/>
        </p:nvSpPr>
        <p:spPr>
          <a:xfrm>
            <a:off x="732079" y="1029101"/>
            <a:ext cx="1010458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Merge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B9E470-8A64-F273-5442-09A855E993AB}"/>
              </a:ext>
            </a:extLst>
          </p:cNvPr>
          <p:cNvSpPr txBox="1"/>
          <p:nvPr/>
        </p:nvSpPr>
        <p:spPr>
          <a:xfrm>
            <a:off x="0" y="1576329"/>
            <a:ext cx="7591244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Processo de combinar as alterações de uma branch em outro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Um 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conflito de merge (merge conflict) 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acontece quando o Git não consegue mesclar automaticamente as alterações porque a mesma parte do código foi editada de maneiras diferentes em duas branches</a:t>
            </a:r>
          </a:p>
        </p:txBody>
      </p:sp>
      <p:pic>
        <p:nvPicPr>
          <p:cNvPr id="10" name="Picture 2" descr="Git - Merge - GeeksforGeeks">
            <a:extLst>
              <a:ext uri="{FF2B5EF4-FFF2-40B4-BE49-F238E27FC236}">
                <a16:creationId xmlns:a16="http://schemas.microsoft.com/office/drawing/2014/main" id="{1F6F4B60-D37A-1C70-9CDA-A82E14203F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96" t="10228" r="553" b="7926"/>
          <a:stretch/>
        </p:blipFill>
        <p:spPr bwMode="auto">
          <a:xfrm>
            <a:off x="7896748" y="1420292"/>
            <a:ext cx="4000623" cy="2189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45BB9AA-2269-622E-5C3A-852CC9BF7157}"/>
              </a:ext>
            </a:extLst>
          </p:cNvPr>
          <p:cNvSpPr txBox="1"/>
          <p:nvPr/>
        </p:nvSpPr>
        <p:spPr>
          <a:xfrm>
            <a:off x="0" y="3961597"/>
            <a:ext cx="11688792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dica é sempre ter coordenação com a sua equipe sobre quais arquivos serão modificados e trabalhar com a versão atualizada dos arquivos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Merge conflicts podem ocorrer por: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Edições simultâneas: 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Duas pessoas modificam as mesmas linhas em um arquivo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Exclusão vs. Modificação: 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Uma pessoa exclui um arquivo enquanto outra o edita</a:t>
            </a:r>
          </a:p>
        </p:txBody>
      </p:sp>
    </p:spTree>
    <p:extLst>
      <p:ext uri="{BB962C8B-B14F-4D97-AF65-F5344CB8AC3E}">
        <p14:creationId xmlns:p14="http://schemas.microsoft.com/office/powerpoint/2010/main" val="33932412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E1FB5-ECD7-2175-3512-7D9A801AA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FCEA684-C4A7-80F0-8377-C20AA97BDC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C0317B5C-B8D2-964A-0399-9228F6C65377}"/>
              </a:ext>
            </a:extLst>
          </p:cNvPr>
          <p:cNvSpPr txBox="1">
            <a:spLocks/>
          </p:cNvSpPr>
          <p:nvPr/>
        </p:nvSpPr>
        <p:spPr>
          <a:xfrm>
            <a:off x="3048000" y="209913"/>
            <a:ext cx="6096000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  <a:endParaRPr lang="pt-BR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D4F89C35-DB6A-A2FD-E635-A0C1892B8EB6}"/>
              </a:ext>
            </a:extLst>
          </p:cNvPr>
          <p:cNvSpPr txBox="1">
            <a:spLocks/>
          </p:cNvSpPr>
          <p:nvPr/>
        </p:nvSpPr>
        <p:spPr>
          <a:xfrm>
            <a:off x="707317" y="853954"/>
            <a:ext cx="2881917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>
                <a:latin typeface="Calibri" panose="020F0502020204030204" pitchFamily="34" charset="0"/>
                <a:cs typeface="Calibri" panose="020F0502020204030204" pitchFamily="34" charset="0"/>
              </a:rPr>
              <a:t>Criando outra branch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1749BC-1F33-F66E-B2EB-568BA416A051}"/>
              </a:ext>
            </a:extLst>
          </p:cNvPr>
          <p:cNvSpPr txBox="1"/>
          <p:nvPr/>
        </p:nvSpPr>
        <p:spPr>
          <a:xfrm>
            <a:off x="0" y="1348414"/>
            <a:ext cx="1185990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 criar uma outra branch: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Digite no terminal dentro da pasta do repositório: 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 checkout -b &lt;nome da branch&gt;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 se locomover entre branches já existentes, repita o código omitindo o 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&lt;-b&gt;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Mencione o nome da branch no push: </a:t>
            </a: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git push -u origin nova-branch</a:t>
            </a:r>
          </a:p>
          <a:p>
            <a:pPr marL="1177200" lvl="2" indent="-5715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Abra o </a:t>
            </a:r>
            <a:r>
              <a:rPr lang="pt-BR" sz="24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pull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request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no GitHub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866266-1F54-475E-8820-4D1EA2775D47}"/>
              </a:ext>
            </a:extLst>
          </p:cNvPr>
          <p:cNvSpPr txBox="1"/>
          <p:nvPr/>
        </p:nvSpPr>
        <p:spPr>
          <a:xfrm>
            <a:off x="7445829" y="4198153"/>
            <a:ext cx="4488024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7600">
              <a:spcBef>
                <a:spcPts val="600"/>
              </a:spcBef>
            </a:pPr>
            <a:r>
              <a:rPr lang="pt-BR" sz="24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Agora:</a:t>
            </a:r>
          </a:p>
          <a:p>
            <a:pPr marL="720000" lvl="1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Vamos criar um </a:t>
            </a:r>
            <a:r>
              <a:rPr lang="pt-BR" sz="24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Pull</a:t>
            </a: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Request</a:t>
            </a:r>
            <a:endParaRPr lang="pt-BR" sz="24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20000" lvl="1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Fazer exercício 3 e 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4AB0B84-A59E-ECD9-546B-B2550F1CC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317" y="3764519"/>
            <a:ext cx="5799246" cy="250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360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D5A24-9036-72DB-7BA9-DF78090C8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026B813-4716-E305-FFB9-753FA3E5B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6177C101-DEBB-B5ED-2547-20634D658155}"/>
              </a:ext>
            </a:extLst>
          </p:cNvPr>
          <p:cNvSpPr txBox="1">
            <a:spLocks/>
          </p:cNvSpPr>
          <p:nvPr/>
        </p:nvSpPr>
        <p:spPr>
          <a:xfrm>
            <a:off x="3048000" y="209913"/>
            <a:ext cx="6096000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8A4CB269-7791-8EC3-415B-81E856480BA6}"/>
              </a:ext>
            </a:extLst>
          </p:cNvPr>
          <p:cNvSpPr txBox="1">
            <a:spLocks/>
          </p:cNvSpPr>
          <p:nvPr/>
        </p:nvSpPr>
        <p:spPr>
          <a:xfrm>
            <a:off x="710296" y="1048398"/>
            <a:ext cx="758796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Fork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9A3A33-7F1B-8199-9EAE-19E2001E016D}"/>
              </a:ext>
            </a:extLst>
          </p:cNvPr>
          <p:cNvSpPr txBox="1"/>
          <p:nvPr/>
        </p:nvSpPr>
        <p:spPr>
          <a:xfrm>
            <a:off x="0" y="1929252"/>
            <a:ext cx="783771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Processo de criar uma cópia pessoal de um repositório, tipicamente de projetos </a:t>
            </a:r>
            <a:r>
              <a:rPr lang="pt-BR" sz="24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Open </a:t>
            </a:r>
            <a:r>
              <a:rPr lang="pt-BR" sz="2400" b="1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Source</a:t>
            </a:r>
            <a:endParaRPr lang="pt-BR" sz="2400" b="1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Feito para implementar novas funcionalidades ou consertar bugs</a:t>
            </a:r>
          </a:p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 a opção de contribuir com o projeto original a partir de um </a:t>
            </a:r>
            <a:r>
              <a:rPr lang="pt-BR" sz="240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Pull</a:t>
            </a: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Request</a:t>
            </a:r>
            <a:endParaRPr lang="pt-BR" sz="240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08158F5-22A0-C013-000E-4D1B0DE87C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423" t="34966" r="11133" b="16055"/>
          <a:stretch>
            <a:fillRect/>
          </a:stretch>
        </p:blipFill>
        <p:spPr bwMode="auto">
          <a:xfrm>
            <a:off x="8778667" y="1929252"/>
            <a:ext cx="2847275" cy="2831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98312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62436-CB2F-7CAF-FF17-21A72145D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2C0F44C-A568-2EF5-F5A1-C529BC50C7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8" y="6374980"/>
            <a:ext cx="1149447" cy="29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7DA0DB51-7715-C293-225F-5FEBDBDC4E96}"/>
              </a:ext>
            </a:extLst>
          </p:cNvPr>
          <p:cNvSpPr txBox="1">
            <a:spLocks/>
          </p:cNvSpPr>
          <p:nvPr/>
        </p:nvSpPr>
        <p:spPr>
          <a:xfrm>
            <a:off x="3048000" y="209913"/>
            <a:ext cx="6096000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3200">
                <a:latin typeface="Calibri" panose="020F0502020204030204" pitchFamily="34" charset="0"/>
                <a:cs typeface="Calibri" panose="020F0502020204030204" pitchFamily="34" charset="0"/>
              </a:rPr>
              <a:t>Ciclo do Software e Versionamento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F8ACA71F-A423-99B5-A8BF-643CCDCE405D}"/>
              </a:ext>
            </a:extLst>
          </p:cNvPr>
          <p:cNvSpPr txBox="1">
            <a:spLocks/>
          </p:cNvSpPr>
          <p:nvPr/>
        </p:nvSpPr>
        <p:spPr>
          <a:xfrm>
            <a:off x="742951" y="984726"/>
            <a:ext cx="2196963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t-BR" sz="2400">
                <a:latin typeface="Calibri" panose="020F0502020204030204" pitchFamily="34" charset="0"/>
                <a:cs typeface="Calibri" panose="020F0502020204030204" pitchFamily="34" charset="0"/>
              </a:rPr>
              <a:t>GitHub Desktop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151EA3-E0AA-9C4F-58F5-8F10441560FE}"/>
              </a:ext>
            </a:extLst>
          </p:cNvPr>
          <p:cNvSpPr txBox="1"/>
          <p:nvPr/>
        </p:nvSpPr>
        <p:spPr>
          <a:xfrm>
            <a:off x="20905" y="1614143"/>
            <a:ext cx="113038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Aplicativo de interface gráfica (GUI) para interação com repositórios do GitHub</a:t>
            </a:r>
          </a:p>
        </p:txBody>
      </p:sp>
      <p:pic>
        <p:nvPicPr>
          <p:cNvPr id="9" name="Picture 4" descr="Getting started with Git and GitHub is easier than ever with GitHub Desktop  2.2 - The GitHub Blog">
            <a:extLst>
              <a:ext uri="{FF2B5EF4-FFF2-40B4-BE49-F238E27FC236}">
                <a16:creationId xmlns:a16="http://schemas.microsoft.com/office/drawing/2014/main" id="{ABB68CA7-8235-82BD-7427-468F1056B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9639" y="2511591"/>
            <a:ext cx="5772722" cy="3741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0189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1528</Words>
  <Application>Microsoft Office PowerPoint</Application>
  <PresentationFormat>Widescreen</PresentationFormat>
  <Paragraphs>181</Paragraphs>
  <Slides>25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Aptos Display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Henrique Delegrego</dc:creator>
  <cp:lastModifiedBy>Henrique Delegrego</cp:lastModifiedBy>
  <cp:revision>3</cp:revision>
  <dcterms:created xsi:type="dcterms:W3CDTF">2026-03-29T23:12:05Z</dcterms:created>
  <dcterms:modified xsi:type="dcterms:W3CDTF">2026-04-12T21:15:27Z</dcterms:modified>
</cp:coreProperties>
</file>