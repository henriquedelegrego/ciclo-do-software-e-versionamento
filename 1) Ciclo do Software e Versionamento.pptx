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3" r:id="rId2"/>
    <p:sldId id="256" r:id="rId3"/>
    <p:sldId id="257" r:id="rId4"/>
    <p:sldId id="258" r:id="rId5"/>
    <p:sldId id="282" r:id="rId6"/>
    <p:sldId id="260" r:id="rId7"/>
    <p:sldId id="261" r:id="rId8"/>
    <p:sldId id="262" r:id="rId9"/>
    <p:sldId id="281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51" d="100"/>
          <a:sy n="51" d="100"/>
        </p:scale>
        <p:origin x="123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ABEA9-9EFB-5A81-7244-13F2E6C72D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B16139-04B4-6CE8-5F76-E24D5AAE73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461152-3A79-708B-A1DB-C9CF126E0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F55E3-0B5A-A915-8EA6-908968EDB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6A3F9-6F25-0CE6-9BBC-8B75A6334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8368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3821F-2F88-D99E-6A4F-26B9149C7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52582-B2E9-25D2-D9B5-4195AFFE6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EB3E4-9F9C-5813-49D7-FE3AB1BC3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50850-8C2E-819B-604C-B014D234A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6A63F-138C-B756-50CD-89DC13DC1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9105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BABDC-C573-67C7-AAEE-0D7E77804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A2144-BFE0-853B-3A18-4B76EC0E6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99C61-02DA-9346-7748-A95CD1B9E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6852A-7C30-F12E-D7EB-1DA81AD6F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B6B34-5D3B-6241-CFFB-2EF2A0575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7869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B5B3-6806-0895-44A9-BA9D7AFC7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F792F-BF87-5CB4-414E-24E8954DF1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91B213-92B5-2F79-43BA-2EB214AEEC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6A0E8-52B6-6E61-B3E0-7503A16FE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8573AE-4434-9950-5F3D-A671AA4C0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A558A-4346-DEAF-4A86-BB5B8002D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436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6CD31-A843-C428-A629-11E19A5B6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57766F-7B0E-ACCD-D9A3-50AB2B1B9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301E6E-369D-B1F5-C08D-7B6517592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80B86-21B5-F6BF-48AE-671224512B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F8F89E-D148-77C5-5C1E-93C87312DC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8A21E3-0427-F112-DFE7-881F9175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FF596D-CA5F-F031-A0E3-68E247B5D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A2B863-C266-C6EC-75AE-67B53A8D1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620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E605F-5BCC-ACB0-CD33-02F2BF037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68E62A-008E-4571-246F-BFB443622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7E934-518D-2832-3C23-EEE637C1E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2ED511-112F-E140-4A79-B54C3ED39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1055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F1A71D-288E-E7AD-C097-C3F237DF5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363FE6-F680-5A22-3BEA-56ACB4CDB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AD541-3AFC-587A-1ECF-68EB7F174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846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B9636-8843-4316-58B1-E35A33D5F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AD7F8-D492-5EC8-D90C-EE8EA6DA1F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9570A7-2EA7-66D2-D706-06717E5AB2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F15DC-1E97-06DB-912B-67C5D699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BB941-CCEE-2647-0452-E4598FF63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2E49F-2FB6-358F-44E6-2153A36BA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37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14C05-B4CD-6D4F-728E-BD1DBF5E4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DDA8C4-A4BA-28BB-7BD0-44ADC1A84C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681D6-D27B-016E-2125-FB9553264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8E065-3C69-78CF-AFAE-88378CF35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3791FC-878D-270E-7F47-07DE89C9B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F910B1-52BD-720A-B67C-DE26861B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695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E1980-121D-0BC8-8FF9-6F1A558CA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A5D057-8A17-2C53-D84C-9719F0C154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E62B5-CB7E-EBE6-EDBD-7AB54CAA6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2222ED-E1A6-6752-424E-F8FABE3AE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AD66C-2366-9881-C0BD-77C67B9F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514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8030A2-8566-D8B8-0C9B-43428B2D80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1D8A9-7F52-A4A4-E0E5-B224617E51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5FB4E-E400-6045-CE3C-5ECEAAF3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C5741-1109-245E-16C9-0C575AA1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1D1E5-66A9-2BDD-DD89-9FE4DF1F1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6263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EEDD4-B494-150E-D326-F8176E63E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C33F6-06A9-B4C4-515D-138A1C81D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099F9-C4F8-8096-8F3E-B26DD49993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E93315-FBCE-476D-880E-C4D57017A70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B2DDB-6FD3-6BBE-6375-4CAB22A6A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6C081-71E4-795E-4AB8-EB9BD447D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53001D-B168-4697-92BC-8F16254BD6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322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TsaLQAetPLU?feature=oembed" TargetMode="External"/><Relationship Id="rId5" Type="http://schemas.openxmlformats.org/officeDocument/2006/relationships/hyperlink" Target="https://youtu.be/TsaLQAetPLU?si=kNOQBp11lXRsfrZa" TargetMode="Externa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C7484-A660-0827-24AF-3C332325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95BDDA8-0BD8-DEB9-1DC2-EACC5A33045A}"/>
              </a:ext>
            </a:extLst>
          </p:cNvPr>
          <p:cNvSpPr txBox="1">
            <a:spLocks/>
          </p:cNvSpPr>
          <p:nvPr/>
        </p:nvSpPr>
        <p:spPr>
          <a:xfrm>
            <a:off x="834189" y="1723406"/>
            <a:ext cx="10523622" cy="86793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5600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5FF02308-028A-2A6B-CA18-411A5C584797}"/>
              </a:ext>
            </a:extLst>
          </p:cNvPr>
          <p:cNvSpPr txBox="1">
            <a:spLocks/>
          </p:cNvSpPr>
          <p:nvPr/>
        </p:nvSpPr>
        <p:spPr>
          <a:xfrm>
            <a:off x="3073637" y="3990151"/>
            <a:ext cx="6044726" cy="590931"/>
          </a:xfrm>
          <a:prstGeom prst="rect">
            <a:avLst/>
          </a:prstGeom>
        </p:spPr>
        <p:txBody>
          <a:bodyPr vert="horz" wrap="square" lIns="91440" tIns="45720" rIns="91440" bIns="45720" rtlCol="0" anchor="b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600" b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Professor: Henrique Delegrego</a:t>
            </a:r>
            <a:endParaRPr lang="pt-BR" sz="3600" b="1" dirty="0">
              <a:solidFill>
                <a:srgbClr val="0070C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D3E59E-13A9-572B-7554-73C50761A0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7" t="18699" r="11453" b="17221"/>
          <a:stretch>
            <a:fillRect/>
          </a:stretch>
        </p:blipFill>
        <p:spPr bwMode="auto">
          <a:xfrm>
            <a:off x="6664558" y="5474360"/>
            <a:ext cx="2304175" cy="7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Git - Logo Downloads">
            <a:extLst>
              <a:ext uri="{FF2B5EF4-FFF2-40B4-BE49-F238E27FC236}">
                <a16:creationId xmlns:a16="http://schemas.microsoft.com/office/drawing/2014/main" id="{A62AD026-5F33-5249-C2CF-8CB8A4858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1730" y="5549448"/>
            <a:ext cx="1521849" cy="63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015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 descr="The SIX Basic Steps of Software Development by KitelyTech">
            <a:extLst>
              <a:ext uri="{FF2B5EF4-FFF2-40B4-BE49-F238E27FC236}">
                <a16:creationId xmlns:a16="http://schemas.microsoft.com/office/drawing/2014/main" id="{6068540A-B428-C5F2-01A0-337F56798B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13" t="1663" r="24139" b="1456"/>
          <a:stretch/>
        </p:blipFill>
        <p:spPr bwMode="auto">
          <a:xfrm>
            <a:off x="3159607" y="953411"/>
            <a:ext cx="4370589" cy="4401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8261C60F-A92B-8D8A-4410-E8C187BF03DE}"/>
              </a:ext>
            </a:extLst>
          </p:cNvPr>
          <p:cNvSpPr txBox="1"/>
          <p:nvPr/>
        </p:nvSpPr>
        <p:spPr>
          <a:xfrm>
            <a:off x="7158047" y="4736131"/>
            <a:ext cx="437058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Esse projeto: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É possível ser feito a tempo?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Está dentro do orçamento?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Faz do zero ou compra uma solução?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Quais são os objetivos?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59234D-A6C3-0C29-62F3-35B17D772F8E}"/>
              </a:ext>
            </a:extLst>
          </p:cNvPr>
          <p:cNvSpPr txBox="1"/>
          <p:nvPr/>
        </p:nvSpPr>
        <p:spPr>
          <a:xfrm>
            <a:off x="1237789" y="5385562"/>
            <a:ext cx="17467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Casos de uso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Personas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Estórias</a:t>
            </a:r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0BBD0701-A63B-D27D-5FC3-A2736C8B98BC}"/>
              </a:ext>
            </a:extLst>
          </p:cNvPr>
          <p:cNvSpPr/>
          <p:nvPr/>
        </p:nvSpPr>
        <p:spPr>
          <a:xfrm rot="8414279">
            <a:off x="2898999" y="5163670"/>
            <a:ext cx="580028" cy="259935"/>
          </a:xfrm>
          <a:prstGeom prst="rightArrow">
            <a:avLst/>
          </a:prstGeom>
          <a:solidFill>
            <a:srgbClr val="293E6B"/>
          </a:solidFill>
          <a:ln w="12700" cap="flat" cmpd="sng" algn="ctr">
            <a:solidFill>
              <a:sysClr val="windowText" lastClr="000000">
                <a:shade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53" name="Arrow: Right 52">
            <a:extLst>
              <a:ext uri="{FF2B5EF4-FFF2-40B4-BE49-F238E27FC236}">
                <a16:creationId xmlns:a16="http://schemas.microsoft.com/office/drawing/2014/main" id="{BC6149DE-5D8C-9FCA-B195-41DBC6EFA2E7}"/>
              </a:ext>
            </a:extLst>
          </p:cNvPr>
          <p:cNvSpPr/>
          <p:nvPr/>
        </p:nvSpPr>
        <p:spPr>
          <a:xfrm rot="1433933">
            <a:off x="6580319" y="5185456"/>
            <a:ext cx="580028" cy="259935"/>
          </a:xfrm>
          <a:prstGeom prst="rightArrow">
            <a:avLst/>
          </a:prstGeom>
          <a:solidFill>
            <a:srgbClr val="B1292F"/>
          </a:solidFill>
          <a:ln w="12700" cap="flat" cmpd="sng" algn="ctr">
            <a:solidFill>
              <a:sysClr val="windowText" lastClr="000000">
                <a:shade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67B7D001-8EF4-5E43-4E8F-CE36325320C6}"/>
              </a:ext>
            </a:extLst>
          </p:cNvPr>
          <p:cNvSpPr/>
          <p:nvPr/>
        </p:nvSpPr>
        <p:spPr>
          <a:xfrm rot="10800000">
            <a:off x="2500754" y="3366703"/>
            <a:ext cx="580028" cy="259935"/>
          </a:xfrm>
          <a:prstGeom prst="rightArrow">
            <a:avLst/>
          </a:prstGeom>
          <a:solidFill>
            <a:srgbClr val="0093DA"/>
          </a:solidFill>
          <a:ln w="12700" cap="flat" cmpd="sng" algn="ctr">
            <a:solidFill>
              <a:sysClr val="windowText" lastClr="000000">
                <a:shade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1F1870-785C-EDD8-96AE-CD34C1AE3E6D}"/>
              </a:ext>
            </a:extLst>
          </p:cNvPr>
          <p:cNvSpPr txBox="1"/>
          <p:nvPr/>
        </p:nvSpPr>
        <p:spPr>
          <a:xfrm>
            <a:off x="-1281" y="2979474"/>
            <a:ext cx="27434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É feito o fluxograma, diagrama de classes e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Mockups das interfaces</a:t>
            </a:r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6C106A9C-FB57-EE64-E3A8-65F16C46E62F}"/>
              </a:ext>
            </a:extLst>
          </p:cNvPr>
          <p:cNvSpPr/>
          <p:nvPr/>
        </p:nvSpPr>
        <p:spPr>
          <a:xfrm rot="11663422">
            <a:off x="2765324" y="1202174"/>
            <a:ext cx="580028" cy="259935"/>
          </a:xfrm>
          <a:prstGeom prst="rightArrow">
            <a:avLst/>
          </a:prstGeom>
          <a:solidFill>
            <a:srgbClr val="0C9D8B"/>
          </a:solidFill>
          <a:ln w="12700" cap="flat" cmpd="sng" algn="ctr">
            <a:solidFill>
              <a:sysClr val="windowText" lastClr="000000">
                <a:shade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6FD5CE-70D3-D7DD-A6DD-34451C8BA220}"/>
              </a:ext>
            </a:extLst>
          </p:cNvPr>
          <p:cNvSpPr txBox="1"/>
          <p:nvPr/>
        </p:nvSpPr>
        <p:spPr>
          <a:xfrm>
            <a:off x="803392" y="741791"/>
            <a:ext cx="29436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É iniciada a programação do software</a:t>
            </a:r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A194E1A4-2CE8-70E9-6F2C-0F0C0EDBFEA7}"/>
              </a:ext>
            </a:extLst>
          </p:cNvPr>
          <p:cNvSpPr/>
          <p:nvPr/>
        </p:nvSpPr>
        <p:spPr>
          <a:xfrm rot="20185108">
            <a:off x="6550243" y="999120"/>
            <a:ext cx="580028" cy="259935"/>
          </a:xfrm>
          <a:prstGeom prst="rightArrow">
            <a:avLst/>
          </a:prstGeom>
          <a:solidFill>
            <a:srgbClr val="EDB717"/>
          </a:solidFill>
          <a:ln w="12700" cap="flat" cmpd="sng" algn="ctr">
            <a:solidFill>
              <a:sysClr val="windowText" lastClr="000000">
                <a:shade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D0BF125-7150-FDB0-EEE8-8E1D1705D4A4}"/>
              </a:ext>
            </a:extLst>
          </p:cNvPr>
          <p:cNvSpPr txBox="1"/>
          <p:nvPr/>
        </p:nvSpPr>
        <p:spPr>
          <a:xfrm>
            <a:off x="7482627" y="112939"/>
            <a:ext cx="40686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São feitos os testes: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Integridade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Disponibilidade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Performance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Compatibilidade e facilidade de uso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Integração de módulos</a:t>
            </a:r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901753EE-31F3-C4D9-BA89-4704DB6C1A5C}"/>
              </a:ext>
            </a:extLst>
          </p:cNvPr>
          <p:cNvSpPr/>
          <p:nvPr/>
        </p:nvSpPr>
        <p:spPr>
          <a:xfrm>
            <a:off x="7609021" y="3110014"/>
            <a:ext cx="580029" cy="259935"/>
          </a:xfrm>
          <a:prstGeom prst="rightArrow">
            <a:avLst/>
          </a:prstGeom>
          <a:solidFill>
            <a:srgbClr val="EF8101"/>
          </a:solidFill>
          <a:ln w="12700" cap="flat" cmpd="sng" algn="ctr">
            <a:solidFill>
              <a:sysClr val="windowText" lastClr="000000">
                <a:shade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7247A5-8792-5656-781D-8B7A2B47AC55}"/>
              </a:ext>
            </a:extLst>
          </p:cNvPr>
          <p:cNvSpPr txBox="1"/>
          <p:nvPr/>
        </p:nvSpPr>
        <p:spPr>
          <a:xfrm>
            <a:off x="8251429" y="2317588"/>
            <a:ext cx="383389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Processo de configurar e disponibilizar um software para os usuários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É feita a comercialização do software</a:t>
            </a:r>
          </a:p>
          <a:p>
            <a:r>
              <a:rPr lang="pt-BR" sz="2000">
                <a:solidFill>
                  <a:prstClr val="black"/>
                </a:solidFill>
                <a:cs typeface="Calibri" panose="020F0502020204030204" pitchFamily="34" charset="0"/>
              </a:rPr>
              <a:t>Correções de bugs menores são feitas nessa etapa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822CDEB1-8D69-A855-33FC-42B4EEE53B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31" b="94639" l="1017" r="91864">
                        <a14:foregroundMark x1="20678" y1="52577" x2="20000" y2="50928"/>
                        <a14:foregroundMark x1="19322" y1="52990" x2="21695" y2="49691"/>
                        <a14:foregroundMark x1="20000" y1="52165" x2="26102" y2="59588"/>
                        <a14:foregroundMark x1="36271" y1="49072" x2="38644" y2="56907"/>
                        <a14:foregroundMark x1="24746" y1="51959" x2="51186" y2="53402"/>
                        <a14:foregroundMark x1="29153" y1="50722" x2="56949" y2="55670"/>
                        <a14:foregroundMark x1="56949" y1="55670" x2="56949" y2="55670"/>
                        <a14:foregroundMark x1="67119" y1="49278" x2="75593" y2="53814"/>
                        <a14:foregroundMark x1="83051" y1="49691" x2="71186" y2="56701"/>
                        <a14:foregroundMark x1="77627" y1="52990" x2="71186" y2="55876"/>
                        <a14:foregroundMark x1="83390" y1="51753" x2="67458" y2="54845"/>
                        <a14:foregroundMark x1="69492" y1="52165" x2="43729" y2="55876"/>
                        <a14:foregroundMark x1="58305" y1="51134" x2="52203" y2="55670"/>
                        <a14:foregroundMark x1="32203" y1="63505" x2="55932" y2="59175"/>
                        <a14:foregroundMark x1="46441" y1="56907" x2="58305" y2="61443"/>
                        <a14:foregroundMark x1="36949" y1="65773" x2="19322" y2="70722"/>
                        <a14:foregroundMark x1="17627" y1="69485" x2="29831" y2="65773"/>
                        <a14:foregroundMark x1="16271" y1="69278" x2="54237" y2="66804"/>
                        <a14:foregroundMark x1="49831" y1="67629" x2="74915" y2="69072"/>
                        <a14:foregroundMark x1="74915" y1="69072" x2="75254" y2="68660"/>
                        <a14:foregroundMark x1="75932" y1="68041" x2="81356" y2="65155"/>
                        <a14:foregroundMark x1="71186" y1="69485" x2="71186" y2="48454"/>
                        <a14:foregroundMark x1="58983" y1="50103" x2="51186" y2="66804"/>
                        <a14:foregroundMark x1="55932" y1="53814" x2="52542" y2="66392"/>
                        <a14:foregroundMark x1="70169" y1="6804" x2="76271" y2="5567"/>
                        <a14:foregroundMark x1="73559" y1="1856" x2="73220" y2="1237"/>
                        <a14:foregroundMark x1="5424" y1="25979" x2="6441" y2="28247"/>
                        <a14:foregroundMark x1="1017" y1="72371" x2="3729" y2="72371"/>
                        <a14:foregroundMark x1="35932" y1="94845" x2="64746" y2="93402"/>
                        <a14:foregroundMark x1="91864" y1="46804" x2="88136" y2="4948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95190" y="2121869"/>
            <a:ext cx="1313831" cy="2160026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64EDAD4-2B93-EF6D-455C-BF100B8493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257" y="2884678"/>
            <a:ext cx="178757" cy="189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40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uiExpand="1"/>
      <p:bldP spid="51" grpId="0"/>
      <p:bldP spid="52" grpId="0" animBg="1"/>
      <p:bldP spid="53" grpId="0" animBg="1"/>
      <p:bldP spid="54" grpId="0" animBg="1"/>
      <p:bldP spid="55" grpId="0"/>
      <p:bldP spid="56" grpId="0" animBg="1"/>
      <p:bldP spid="57" grpId="0"/>
      <p:bldP spid="58" grpId="0" animBg="1"/>
      <p:bldP spid="59" grpId="0" uiExpand="1"/>
      <p:bldP spid="60" grpId="0" animBg="1"/>
      <p:bldP spid="61" grpId="0" uiExpan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2BFFB-20CB-5014-F875-1B4904410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303C8617-7FFA-56C3-ECBC-BDDBADB84361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4935FE-0FD2-598A-C300-1E286916E8C9}"/>
              </a:ext>
            </a:extLst>
          </p:cNvPr>
          <p:cNvSpPr txBox="1">
            <a:spLocks/>
          </p:cNvSpPr>
          <p:nvPr/>
        </p:nvSpPr>
        <p:spPr>
          <a:xfrm>
            <a:off x="723890" y="4515483"/>
            <a:ext cx="59216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4645C2-8D23-5C9C-B4B9-8E2A1DE19C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31" t="25748" r="51881" b="21745"/>
          <a:stretch/>
        </p:blipFill>
        <p:spPr>
          <a:xfrm>
            <a:off x="1607619" y="4466239"/>
            <a:ext cx="1033272" cy="5232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1F7273-DCC0-1F84-DFEE-FA4077C346F5}"/>
              </a:ext>
            </a:extLst>
          </p:cNvPr>
          <p:cNvSpPr txBox="1"/>
          <p:nvPr/>
        </p:nvSpPr>
        <p:spPr>
          <a:xfrm>
            <a:off x="0" y="5137683"/>
            <a:ext cx="73579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É uma ferramenta de versionamento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DF1FF4AD-BBE5-E8B1-BA62-08D64615BE6C}"/>
              </a:ext>
            </a:extLst>
          </p:cNvPr>
          <p:cNvSpPr txBox="1">
            <a:spLocks/>
          </p:cNvSpPr>
          <p:nvPr/>
        </p:nvSpPr>
        <p:spPr>
          <a:xfrm>
            <a:off x="667386" y="1182668"/>
            <a:ext cx="22149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Versionamento</a:t>
            </a:r>
          </a:p>
        </p:txBody>
      </p:sp>
      <p:pic>
        <p:nvPicPr>
          <p:cNvPr id="14" name="Picture 2" descr="Top 5 Open Source Version Control Tools for System Admins">
            <a:extLst>
              <a:ext uri="{FF2B5EF4-FFF2-40B4-BE49-F238E27FC236}">
                <a16:creationId xmlns:a16="http://schemas.microsoft.com/office/drawing/2014/main" id="{B76C98CA-EB0F-8B13-5C37-556269DA57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6" t="31339" r="1414" b="21200"/>
          <a:stretch/>
        </p:blipFill>
        <p:spPr bwMode="auto">
          <a:xfrm>
            <a:off x="3237921" y="1124438"/>
            <a:ext cx="2214917" cy="54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8E81FC7-FEB7-5674-DD6F-C8C4D63A0582}"/>
              </a:ext>
            </a:extLst>
          </p:cNvPr>
          <p:cNvSpPr txBox="1"/>
          <p:nvPr/>
        </p:nvSpPr>
        <p:spPr>
          <a:xfrm>
            <a:off x="0" y="1943257"/>
            <a:ext cx="1012371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Responsável por gerenciar alterações em programas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À medida que as equipes desenvolvem, é comum que várias versões do mesmo software sejam implementadas em locais diferentes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Permite que várias pessoas trabalhem em um mesmo projeto</a:t>
            </a:r>
          </a:p>
        </p:txBody>
      </p:sp>
    </p:spTree>
    <p:extLst>
      <p:ext uri="{BB962C8B-B14F-4D97-AF65-F5344CB8AC3E}">
        <p14:creationId xmlns:p14="http://schemas.microsoft.com/office/powerpoint/2010/main" val="2936546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926DB-21BD-3FEC-D1FF-B242CC4DC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0587370A-7777-D730-ED41-CD5B95B79D9F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D897D655-5EFE-CE4E-50CB-CF8B1230AF52}"/>
              </a:ext>
            </a:extLst>
          </p:cNvPr>
          <p:cNvSpPr txBox="1">
            <a:spLocks/>
          </p:cNvSpPr>
          <p:nvPr/>
        </p:nvSpPr>
        <p:spPr>
          <a:xfrm>
            <a:off x="691708" y="1309091"/>
            <a:ext cx="1118431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394A74-927F-7CA2-4764-E14E6D07A04F}"/>
              </a:ext>
            </a:extLst>
          </p:cNvPr>
          <p:cNvSpPr txBox="1"/>
          <p:nvPr/>
        </p:nvSpPr>
        <p:spPr>
          <a:xfrm>
            <a:off x="-1" y="2055426"/>
            <a:ext cx="9615949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Ferramenta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de versionamento mais usada no mundo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Tem concorrentes como o 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GitLab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, 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Atlassian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, 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BitBucket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e vários outros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BFBD75-4E43-67C6-D046-6673BDD8F3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789" t="5133" r="4976" b="9396"/>
          <a:stretch/>
        </p:blipFill>
        <p:spPr>
          <a:xfrm>
            <a:off x="1943612" y="1168334"/>
            <a:ext cx="675529" cy="677533"/>
          </a:xfrm>
          <a:prstGeom prst="rect">
            <a:avLst/>
          </a:prstGeom>
        </p:spPr>
      </p:pic>
      <p:pic>
        <p:nvPicPr>
          <p:cNvPr id="13" name="Online Media 3" title="Como personalizar o seu perfil no Github (Readme)">
            <a:hlinkClick r:id="" action="ppaction://media"/>
            <a:extLst>
              <a:ext uri="{FF2B5EF4-FFF2-40B4-BE49-F238E27FC236}">
                <a16:creationId xmlns:a16="http://schemas.microsoft.com/office/drawing/2014/main" id="{6FA9B91D-D0DC-5851-2BC2-A9482CB1776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7520429" y="4066767"/>
            <a:ext cx="3402650" cy="191399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F96A1CD-AD77-526C-9FDD-4CAD85313BA2}"/>
              </a:ext>
            </a:extLst>
          </p:cNvPr>
          <p:cNvSpPr txBox="1"/>
          <p:nvPr/>
        </p:nvSpPr>
        <p:spPr>
          <a:xfrm>
            <a:off x="1" y="3686483"/>
            <a:ext cx="509451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8500">
              <a:spcBef>
                <a:spcPts val="600"/>
              </a:spcBef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Agora: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Vamos criar uma conta no GitHub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Personalizar o nosso perfil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BDCF19-3891-EED9-FAF0-151455C27EFE}"/>
              </a:ext>
            </a:extLst>
          </p:cNvPr>
          <p:cNvSpPr txBox="1"/>
          <p:nvPr/>
        </p:nvSpPr>
        <p:spPr>
          <a:xfrm>
            <a:off x="7563281" y="3530353"/>
            <a:ext cx="3316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  <a:hlinkClick r:id="rId5"/>
              </a:rPr>
              <a:t>Vídeo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 que eu recomendo</a:t>
            </a:r>
          </a:p>
        </p:txBody>
      </p:sp>
    </p:spTree>
    <p:extLst>
      <p:ext uri="{BB962C8B-B14F-4D97-AF65-F5344CB8AC3E}">
        <p14:creationId xmlns:p14="http://schemas.microsoft.com/office/powerpoint/2010/main" val="539353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  <p:bldLst>
      <p:bldP spid="14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9F3B2-23D2-C351-9826-ACCB68637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4C4104D0-A505-DA5C-48C3-90B28C56F4CC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81E847A4-5E7D-9CF6-6D3C-8C989AE9BED1}"/>
              </a:ext>
            </a:extLst>
          </p:cNvPr>
          <p:cNvSpPr txBox="1">
            <a:spLocks/>
          </p:cNvSpPr>
          <p:nvPr/>
        </p:nvSpPr>
        <p:spPr>
          <a:xfrm>
            <a:off x="734787" y="823854"/>
            <a:ext cx="2553991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Repositório (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Repo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749E73-51B2-4B8D-9AEB-4EDE195D0BA9}"/>
              </a:ext>
            </a:extLst>
          </p:cNvPr>
          <p:cNvSpPr txBox="1"/>
          <p:nvPr/>
        </p:nvSpPr>
        <p:spPr>
          <a:xfrm>
            <a:off x="0" y="1248586"/>
            <a:ext cx="9412014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Local onde são armazenados arquivos e pastas relacionados a um projeto específico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Armazena o histórico completo do projeto, incluindo </a:t>
            </a:r>
            <a:r>
              <a:rPr lang="pt-BR" sz="2400" b="1" dirty="0" err="1">
                <a:solidFill>
                  <a:prstClr val="black"/>
                </a:solidFill>
                <a:cs typeface="Calibri" panose="020F0502020204030204" pitchFamily="34" charset="0"/>
              </a:rPr>
              <a:t>commits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, 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branches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,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 </a:t>
            </a:r>
            <a:r>
              <a:rPr lang="pt-BR" sz="2400" b="1" dirty="0" err="1">
                <a:solidFill>
                  <a:prstClr val="black"/>
                </a:solidFill>
                <a:cs typeface="Calibri" panose="020F0502020204030204" pitchFamily="34" charset="0"/>
              </a:rPr>
              <a:t>pull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 </a:t>
            </a:r>
            <a:r>
              <a:rPr lang="pt-BR" sz="2400" b="1" dirty="0" err="1">
                <a:solidFill>
                  <a:prstClr val="black"/>
                </a:solidFill>
                <a:cs typeface="Calibri" panose="020F0502020204030204" pitchFamily="34" charset="0"/>
              </a:rPr>
              <a:t>requests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 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e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 merges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Permite reverter para versões anteriores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Não deve ser salvo arquivos de build (módulos, </a:t>
            </a:r>
            <a:r>
              <a:rPr lang="pt-BR" sz="2400" dirty="0" err="1">
                <a:solidFill>
                  <a:prstClr val="black"/>
                </a:solidFill>
                <a:cs typeface="Calibri" panose="020F0502020204030204" pitchFamily="34" charset="0"/>
              </a:rPr>
              <a:t>classfiles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, </a:t>
            </a:r>
            <a:r>
              <a:rPr lang="pt-BR" sz="2400" dirty="0" err="1">
                <a:solidFill>
                  <a:prstClr val="black"/>
                </a:solidFill>
                <a:cs typeface="Calibri" panose="020F0502020204030204" pitchFamily="34" charset="0"/>
              </a:rPr>
              <a:t>jars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), esses arquivos deverão ser mencionados no 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.</a:t>
            </a:r>
            <a:r>
              <a:rPr lang="pt-BR" sz="2400" b="1" dirty="0" err="1">
                <a:solidFill>
                  <a:prstClr val="black"/>
                </a:solidFill>
                <a:cs typeface="Calibri" panose="020F0502020204030204" pitchFamily="34" charset="0"/>
              </a:rPr>
              <a:t>gitignore</a:t>
            </a:r>
            <a:endParaRPr lang="pt-BR" sz="2400" b="1" dirty="0">
              <a:solidFill>
                <a:prstClr val="black"/>
              </a:solidFill>
              <a:cs typeface="Calibri" panose="020F0502020204030204" pitchFamily="34" charset="0"/>
            </a:endParaRP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Segue o padrão de nomenclatura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 kebab-case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: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Separação de palavras com hífen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Caracteres em minúsculo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Evite caracteres especiais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Evite começar o nome do repositório com números</a:t>
            </a:r>
          </a:p>
        </p:txBody>
      </p:sp>
      <p:pic>
        <p:nvPicPr>
          <p:cNvPr id="9" name="Picture 8" descr="Git 101: What's a Git Repository and How to Create it? | by S.J. | An Idea  (by Ingenious Piece) | Medium">
            <a:extLst>
              <a:ext uri="{FF2B5EF4-FFF2-40B4-BE49-F238E27FC236}">
                <a16:creationId xmlns:a16="http://schemas.microsoft.com/office/drawing/2014/main" id="{450D5847-43B2-19E9-95B3-E067060741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97" t="14840" r="10256" b="11339"/>
          <a:stretch>
            <a:fillRect/>
          </a:stretch>
        </p:blipFill>
        <p:spPr bwMode="auto">
          <a:xfrm>
            <a:off x="10131901" y="2668555"/>
            <a:ext cx="1745967" cy="1614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9677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95FA0-48AB-4AF3-229D-23C103445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473CC2E6-9912-21AF-A6BA-503024E9A8B4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217EDE1-9DD0-7186-7444-DA727AB20BE0}"/>
              </a:ext>
            </a:extLst>
          </p:cNvPr>
          <p:cNvSpPr txBox="1">
            <a:spLocks/>
          </p:cNvSpPr>
          <p:nvPr/>
        </p:nvSpPr>
        <p:spPr>
          <a:xfrm>
            <a:off x="718614" y="990147"/>
            <a:ext cx="140192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gitignore</a:t>
            </a:r>
            <a:endParaRPr lang="pt-BR" sz="2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CFBAF-FD68-1E5A-DB47-3635A26281AA}"/>
              </a:ext>
            </a:extLst>
          </p:cNvPr>
          <p:cNvSpPr txBox="1"/>
          <p:nvPr/>
        </p:nvSpPr>
        <p:spPr>
          <a:xfrm>
            <a:off x="0" y="1798428"/>
            <a:ext cx="83322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Arquivo de texto, que geralmente fica na raiz do projeto, que indica quais arquivos, pastas ou caminhos devem ser ignorados intencionalmente</a:t>
            </a:r>
          </a:p>
        </p:txBody>
      </p:sp>
      <p:pic>
        <p:nvPicPr>
          <p:cNvPr id="10" name="Picture 2" descr="gitignore: How Does it Work? - Designveloper">
            <a:extLst>
              <a:ext uri="{FF2B5EF4-FFF2-40B4-BE49-F238E27FC236}">
                <a16:creationId xmlns:a16="http://schemas.microsoft.com/office/drawing/2014/main" id="{AFDB1E5E-D461-2D74-82F3-C716588D0E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" r="22090" b="13196"/>
          <a:stretch>
            <a:fillRect/>
          </a:stretch>
        </p:blipFill>
        <p:spPr bwMode="auto">
          <a:xfrm>
            <a:off x="8948529" y="1159174"/>
            <a:ext cx="3045245" cy="153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979FE3-EC43-51E7-99AE-975206CB71AE}"/>
              </a:ext>
            </a:extLst>
          </p:cNvPr>
          <p:cNvSpPr txBox="1"/>
          <p:nvPr/>
        </p:nvSpPr>
        <p:spPr>
          <a:xfrm>
            <a:off x="0" y="2998757"/>
            <a:ext cx="11653935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Seu principal objetivo é manter artefatos de compilação, configurações do editor e outros ruídos fora do repositório, para que os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commits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permaneçam limpos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Para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ignorar um arquivo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específico, basta escrever o nome dele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Pastas são ignoradas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escrevendo o nome da pasta seguido por uma barra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Para ignorar extensões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, use, por exemplo: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*.log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que instrui o Git a ignorar todos os arquivos que terminam em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.log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, independentemente do nome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Linhas que começam com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#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são ignoradas (comentários)</a:t>
            </a:r>
          </a:p>
        </p:txBody>
      </p:sp>
    </p:spTree>
    <p:extLst>
      <p:ext uri="{BB962C8B-B14F-4D97-AF65-F5344CB8AC3E}">
        <p14:creationId xmlns:p14="http://schemas.microsoft.com/office/powerpoint/2010/main" val="3282240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AE2A2-6D08-E490-BD15-BA69BB815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21D1AA5D-488C-F868-BA96-2DDA0B3E62B3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AB0D5F4-67DE-A109-4F45-94FEF117B6CB}"/>
              </a:ext>
            </a:extLst>
          </p:cNvPr>
          <p:cNvSpPr txBox="1">
            <a:spLocks/>
          </p:cNvSpPr>
          <p:nvPr/>
        </p:nvSpPr>
        <p:spPr>
          <a:xfrm>
            <a:off x="732190" y="1188180"/>
            <a:ext cx="132261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README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3DE838-2C56-41FC-6D65-E4C2ABD17BC1}"/>
              </a:ext>
            </a:extLst>
          </p:cNvPr>
          <p:cNvSpPr txBox="1"/>
          <p:nvPr/>
        </p:nvSpPr>
        <p:spPr>
          <a:xfrm>
            <a:off x="0" y="1933394"/>
            <a:ext cx="7021286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Arquivo de texto que fornece informações sobre o repositório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Serve como ponto de entrada principal para usuários e colaboradores, oferecendo uma visão geral do projeto, além de instruções sobre como utilizá-lo, contribuir ou configurá-lo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D9AC23F-22B2-5CAD-E3BD-0F007E3AA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745444"/>
            <a:ext cx="2915110" cy="54797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BD3127B-27BC-8DC6-9402-89DA531C4A23}"/>
              </a:ext>
            </a:extLst>
          </p:cNvPr>
          <p:cNvSpPr txBox="1"/>
          <p:nvPr/>
        </p:nvSpPr>
        <p:spPr>
          <a:xfrm>
            <a:off x="0" y="5414641"/>
            <a:ext cx="7905135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8500">
              <a:spcBef>
                <a:spcPts val="600"/>
              </a:spcBef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Agora: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Vamos criar um repositório e fazer o push de um arquivo</a:t>
            </a:r>
          </a:p>
        </p:txBody>
      </p:sp>
    </p:spTree>
    <p:extLst>
      <p:ext uri="{BB962C8B-B14F-4D97-AF65-F5344CB8AC3E}">
        <p14:creationId xmlns:p14="http://schemas.microsoft.com/office/powerpoint/2010/main" val="319271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3CC84-F2CE-55AE-3BFA-3357D5735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574C6373-D91D-CB7E-2581-F77E1849EA83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2FCDF43-8725-1B11-B941-535B7918A949}"/>
              </a:ext>
            </a:extLst>
          </p:cNvPr>
          <p:cNvSpPr txBox="1">
            <a:spLocks/>
          </p:cNvSpPr>
          <p:nvPr/>
        </p:nvSpPr>
        <p:spPr>
          <a:xfrm>
            <a:off x="698007" y="1164461"/>
            <a:ext cx="179736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Staging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Area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9E58A3-2AA0-E134-0C72-2364C210D0D7}"/>
              </a:ext>
            </a:extLst>
          </p:cNvPr>
          <p:cNvSpPr txBox="1"/>
          <p:nvPr/>
        </p:nvSpPr>
        <p:spPr>
          <a:xfrm>
            <a:off x="-1" y="2008209"/>
            <a:ext cx="1113517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Funciona como um espaço intermediário entre o diretório de trabalho e o repositório onde você escolhe as alterações que deseja incluir no próximo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Permite selecionar com precisão o que será incluído no próximo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Facilita a organização das mudanças, especialmente em projetos grandes ou com muitas alterações simultâneas</a:t>
            </a:r>
          </a:p>
        </p:txBody>
      </p:sp>
    </p:spTree>
    <p:extLst>
      <p:ext uri="{BB962C8B-B14F-4D97-AF65-F5344CB8AC3E}">
        <p14:creationId xmlns:p14="http://schemas.microsoft.com/office/powerpoint/2010/main" val="3871503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202E-2EDD-7E6D-65FF-227EAAF4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">
            <a:extLst>
              <a:ext uri="{FF2B5EF4-FFF2-40B4-BE49-F238E27FC236}">
                <a16:creationId xmlns:a16="http://schemas.microsoft.com/office/drawing/2014/main" id="{A485DD2B-1078-E80D-9C22-81EE8C735B88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14401027-4D82-90D2-EFF8-9FD83E2C81F6}"/>
              </a:ext>
            </a:extLst>
          </p:cNvPr>
          <p:cNvSpPr txBox="1">
            <a:spLocks/>
          </p:cNvSpPr>
          <p:nvPr/>
        </p:nvSpPr>
        <p:spPr>
          <a:xfrm>
            <a:off x="684055" y="745444"/>
            <a:ext cx="1187475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D6881F-91DC-19C4-23F9-5FE5C89339DD}"/>
              </a:ext>
            </a:extLst>
          </p:cNvPr>
          <p:cNvSpPr txBox="1"/>
          <p:nvPr/>
        </p:nvSpPr>
        <p:spPr>
          <a:xfrm>
            <a:off x="0" y="1396378"/>
            <a:ext cx="116912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Salva as mudanças feitas no projeto, seja adições, edições, exclusões ou movimentações de arquivos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Cada commit é acompanhado por uma mensagem que fornece uma descrição concisa do que foi alterado ou adicionado no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 convenção é usar: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Inglês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Imperativo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Ex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: “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fix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bug”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Português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Presente do indicativo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Ex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: “conserta bug”</a:t>
            </a:r>
          </a:p>
        </p:txBody>
      </p:sp>
    </p:spTree>
    <p:extLst>
      <p:ext uri="{BB962C8B-B14F-4D97-AF65-F5344CB8AC3E}">
        <p14:creationId xmlns:p14="http://schemas.microsoft.com/office/powerpoint/2010/main" val="3646372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4C8C2-9643-5B69-A801-FF4B34A4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5B94F358-59FC-4522-2AF4-51D3F5767621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6CF7CE7-7A71-9A80-5B36-0B8757993B0E}"/>
              </a:ext>
            </a:extLst>
          </p:cNvPr>
          <p:cNvSpPr txBox="1">
            <a:spLocks/>
          </p:cNvSpPr>
          <p:nvPr/>
        </p:nvSpPr>
        <p:spPr>
          <a:xfrm>
            <a:off x="678265" y="1074077"/>
            <a:ext cx="305900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Mensagem de commit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5B1A38-CAFA-72A3-4E3D-57834F5EBF2D}"/>
              </a:ext>
            </a:extLst>
          </p:cNvPr>
          <p:cNvSpPr txBox="1"/>
          <p:nvPr/>
        </p:nvSpPr>
        <p:spPr>
          <a:xfrm>
            <a:off x="0" y="1636201"/>
            <a:ext cx="11215396" cy="3585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Além do texto da mensagem é comum colocar o tipo do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Tipo de mudança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feat: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Nova funcionalidade -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feat: adiciona suporte a login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fix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Correção de bug -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fix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corrige alinhamento de botão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refactor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Reestruturação de código -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refactor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simplifica tratamento de erros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docs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Mudanças na documentação -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docs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atualiza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schema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 do banco de dados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comment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Adição de comentários -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comment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adiciona comentários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style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Indentação e separação de linhas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-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style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: remove linha em branco</a:t>
            </a:r>
          </a:p>
        </p:txBody>
      </p:sp>
    </p:spTree>
    <p:extLst>
      <p:ext uri="{BB962C8B-B14F-4D97-AF65-F5344CB8AC3E}">
        <p14:creationId xmlns:p14="http://schemas.microsoft.com/office/powerpoint/2010/main" val="1958315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943F8-E3F5-DAC5-F565-FA1E45462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163C07C4-80B7-F80E-E75E-A641C18AA3AF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F4C0D2E0-E06C-682D-2386-FF8ED098E0ED}"/>
              </a:ext>
            </a:extLst>
          </p:cNvPr>
          <p:cNvSpPr txBox="1">
            <a:spLocks/>
          </p:cNvSpPr>
          <p:nvPr/>
        </p:nvSpPr>
        <p:spPr>
          <a:xfrm>
            <a:off x="591642" y="1147369"/>
            <a:ext cx="15704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endParaRPr lang="pt-BR" sz="2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B8B56A-BF05-FCD6-8007-DED71E15D791}"/>
              </a:ext>
            </a:extLst>
          </p:cNvPr>
          <p:cNvSpPr txBox="1"/>
          <p:nvPr/>
        </p:nvSpPr>
        <p:spPr>
          <a:xfrm>
            <a:off x="-2" y="2008209"/>
            <a:ext cx="1198975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Push</a:t>
            </a:r>
            <a:endParaRPr lang="pt-BR" sz="2400" b="1">
              <a:solidFill>
                <a:prstClr val="black"/>
              </a:solidFill>
              <a:cs typeface="Calibri" panose="020F0502020204030204" pitchFamily="34" charset="0"/>
            </a:endParaRP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Ação de fazer upload da sua versão local para um repositório, disponibilizando suas alterações para outros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Pull</a:t>
            </a:r>
            <a:endParaRPr lang="pt-BR" sz="2400" b="1">
              <a:solidFill>
                <a:prstClr val="black"/>
              </a:solidFill>
              <a:cs typeface="Calibri" panose="020F0502020204030204" pitchFamily="34" charset="0"/>
            </a:endParaRP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Processo de fazer download das alterações de um repositório para a sua versão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Usado para buscar e integrar mudanças do repositório remoto para o seu branch local</a:t>
            </a:r>
          </a:p>
        </p:txBody>
      </p:sp>
    </p:spTree>
    <p:extLst>
      <p:ext uri="{BB962C8B-B14F-4D97-AF65-F5344CB8AC3E}">
        <p14:creationId xmlns:p14="http://schemas.microsoft.com/office/powerpoint/2010/main" val="1579098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26D91-716A-3384-FEBB-387F5A49C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5B9BDD53-61A3-A4BC-F6FF-6D13E8AB83A6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DF180FB-D63F-10C7-28D1-B3FA54999BA9}"/>
              </a:ext>
            </a:extLst>
          </p:cNvPr>
          <p:cNvSpPr txBox="1">
            <a:spLocks/>
          </p:cNvSpPr>
          <p:nvPr/>
        </p:nvSpPr>
        <p:spPr>
          <a:xfrm>
            <a:off x="722984" y="1478999"/>
            <a:ext cx="19866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Instalando Git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0A4617-9A16-C1D9-4840-E891F5B8101E}"/>
              </a:ext>
            </a:extLst>
          </p:cNvPr>
          <p:cNvSpPr txBox="1"/>
          <p:nvPr/>
        </p:nvSpPr>
        <p:spPr>
          <a:xfrm>
            <a:off x="-1" y="2208183"/>
            <a:ext cx="79732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Para checar se você tem o Git instalado na sua máquina, abra o 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cmd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e digite: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git --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version</a:t>
            </a:r>
            <a:endParaRPr lang="pt-BR" sz="2400" b="1">
              <a:solidFill>
                <a:prstClr val="black"/>
              </a:solidFill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12A813-6ED8-9EE8-07AE-05EFD0303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276" y="3429000"/>
            <a:ext cx="6181448" cy="246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064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BC417-935D-27E5-29DD-7AA73F9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FEF78AB8-D8CB-B957-CD14-BAA635EE919C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16AFC4C-B916-7B3F-DB3E-0D2338005902}"/>
              </a:ext>
            </a:extLst>
          </p:cNvPr>
          <p:cNvSpPr txBox="1">
            <a:spLocks/>
          </p:cNvSpPr>
          <p:nvPr/>
        </p:nvSpPr>
        <p:spPr>
          <a:xfrm>
            <a:off x="638137" y="969677"/>
            <a:ext cx="19866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Instalando Git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77A04C-1048-9577-6FCB-380F4F00F92B}"/>
              </a:ext>
            </a:extLst>
          </p:cNvPr>
          <p:cNvSpPr txBox="1"/>
          <p:nvPr/>
        </p:nvSpPr>
        <p:spPr>
          <a:xfrm>
            <a:off x="0" y="1685669"/>
            <a:ext cx="88990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Caso você não tenha instalado, acesse o site do Git para baixar</a:t>
            </a:r>
          </a:p>
        </p:txBody>
      </p:sp>
      <p:pic>
        <p:nvPicPr>
          <p:cNvPr id="9" name="Picture 8">
            <a:hlinkClick r:id="rId2"/>
            <a:extLst>
              <a:ext uri="{FF2B5EF4-FFF2-40B4-BE49-F238E27FC236}">
                <a16:creationId xmlns:a16="http://schemas.microsoft.com/office/drawing/2014/main" id="{A4A689CE-6D7E-20AB-EA76-42FA5497A7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68"/>
          <a:stretch>
            <a:fillRect/>
          </a:stretch>
        </p:blipFill>
        <p:spPr>
          <a:xfrm>
            <a:off x="3650172" y="2610960"/>
            <a:ext cx="4891655" cy="34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170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54C0-3775-8A7C-4A6B-398FA0DD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7F68E7EE-1269-58CB-FB38-AD0CB73D74E0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2D54E33-8563-2884-4E12-C5374181C90D}"/>
              </a:ext>
            </a:extLst>
          </p:cNvPr>
          <p:cNvSpPr txBox="1">
            <a:spLocks/>
          </p:cNvSpPr>
          <p:nvPr/>
        </p:nvSpPr>
        <p:spPr>
          <a:xfrm>
            <a:off x="669318" y="756745"/>
            <a:ext cx="472377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Iniciando um repositório na nuvem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D7956-23B6-79DC-5F03-800CDCB807CA}"/>
              </a:ext>
            </a:extLst>
          </p:cNvPr>
          <p:cNvSpPr txBox="1"/>
          <p:nvPr/>
        </p:nvSpPr>
        <p:spPr>
          <a:xfrm>
            <a:off x="0" y="1320527"/>
            <a:ext cx="11805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Assim que um repositório no GitHub é criado, essa tela aparece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070C3B9-63DF-8622-0894-25216B75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613" y="1921242"/>
            <a:ext cx="5756330" cy="37233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D582BB-26B2-6EA3-49E3-390F0772067F}"/>
              </a:ext>
            </a:extLst>
          </p:cNvPr>
          <p:cNvSpPr txBox="1"/>
          <p:nvPr/>
        </p:nvSpPr>
        <p:spPr>
          <a:xfrm>
            <a:off x="0" y="5468137"/>
            <a:ext cx="6096000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Vamos criar um repositório no GitHub</a:t>
            </a:r>
          </a:p>
        </p:txBody>
      </p:sp>
    </p:spTree>
    <p:extLst>
      <p:ext uri="{BB962C8B-B14F-4D97-AF65-F5344CB8AC3E}">
        <p14:creationId xmlns:p14="http://schemas.microsoft.com/office/powerpoint/2010/main" val="170724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22342-340E-82B1-B92C-9BEB6C739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9B973E30-C103-BB16-84C4-5D5F952680CC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D8D7A004-CDBA-0100-EF85-B2D3F37B3046}"/>
              </a:ext>
            </a:extLst>
          </p:cNvPr>
          <p:cNvSpPr txBox="1">
            <a:spLocks/>
          </p:cNvSpPr>
          <p:nvPr/>
        </p:nvSpPr>
        <p:spPr>
          <a:xfrm>
            <a:off x="718379" y="913919"/>
            <a:ext cx="395625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Iniciando um repositório local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BB3C4B-565F-A966-D80C-9AC6A6316546}"/>
              </a:ext>
            </a:extLst>
          </p:cNvPr>
          <p:cNvSpPr txBox="1"/>
          <p:nvPr/>
        </p:nvSpPr>
        <p:spPr>
          <a:xfrm>
            <a:off x="0" y="1380347"/>
            <a:ext cx="9398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Crie uma pasta no seu computador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Habilite a visualização da extensão dos arquivos e pastas ocultas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Crie os arquivos de programação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Abra algum terminal no caminho do diretório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Execute os comandos do Git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8E96DE-EFD4-32C5-400A-DEB894E65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" t="52340" r="50000" b="23681"/>
          <a:stretch/>
        </p:blipFill>
        <p:spPr>
          <a:xfrm>
            <a:off x="2705988" y="3690611"/>
            <a:ext cx="6780024" cy="2253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47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DB2FB-5250-9D80-BB3F-F6954223D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9B22B78B-7F6E-3BB3-876B-F7D7A3F238F8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E01DC86-C2E8-2541-29B0-CF5D152B0798}"/>
              </a:ext>
            </a:extLst>
          </p:cNvPr>
          <p:cNvSpPr txBox="1">
            <a:spLocks/>
          </p:cNvSpPr>
          <p:nvPr/>
        </p:nvSpPr>
        <p:spPr>
          <a:xfrm>
            <a:off x="658027" y="779497"/>
            <a:ext cx="3307222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Iniciando um repositório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FC3BB-884A-CF6E-D28B-FA5A3FF7C2C5}"/>
              </a:ext>
            </a:extLst>
          </p:cNvPr>
          <p:cNvSpPr txBox="1"/>
          <p:nvPr/>
        </p:nvSpPr>
        <p:spPr>
          <a:xfrm>
            <a:off x="0" y="1195684"/>
            <a:ext cx="1180555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echo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 "# tutorial" &gt;&gt; README.md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Escreve no arquivo README.md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git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init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Inicializa um repositório na pasta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git add .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Adiciona todos os arquivos na Staging Area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git commit –m “first commit”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Faz o commit dos arquivos com uma mensagem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git branch –M main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Renomeia a branch principal para main (nomenclatura moderna)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git remote add... 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Conecta o repositório local ao seu repositório no GitHub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git push –u origin main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Faz o push do commit para o GitHub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BEF294B-CCBD-F4C5-2A93-E5343D9646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" t="52340" r="50000" b="23681"/>
          <a:stretch/>
        </p:blipFill>
        <p:spPr>
          <a:xfrm>
            <a:off x="2820709" y="4573710"/>
            <a:ext cx="6550582" cy="217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90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47C9-754B-348F-F434-EF77E07BD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DFEE263A-19F3-B006-BF14-F6270D6B674A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02AC884-71C8-17CC-3029-9B4ABF8DB949}"/>
              </a:ext>
            </a:extLst>
          </p:cNvPr>
          <p:cNvSpPr txBox="1">
            <a:spLocks/>
          </p:cNvSpPr>
          <p:nvPr/>
        </p:nvSpPr>
        <p:spPr>
          <a:xfrm>
            <a:off x="564022" y="719677"/>
            <a:ext cx="340722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e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no terminal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77E275-9868-6A03-C0A1-111B6E1DA978}"/>
              </a:ext>
            </a:extLst>
          </p:cNvPr>
          <p:cNvSpPr txBox="1"/>
          <p:nvPr/>
        </p:nvSpPr>
        <p:spPr>
          <a:xfrm>
            <a:off x="0" y="1195684"/>
            <a:ext cx="7135737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Para fazer um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push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 em um repositório do GitHub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git add . 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git commit –m “mensagem de commit”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git push –u origin main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C7E985-6E09-C585-9431-92812276B7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345" r="33232" b="14263"/>
          <a:stretch/>
        </p:blipFill>
        <p:spPr>
          <a:xfrm>
            <a:off x="7743827" y="1019791"/>
            <a:ext cx="3898899" cy="25873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3E0CEAE-6A51-C320-5F90-DDAA71B11009}"/>
              </a:ext>
            </a:extLst>
          </p:cNvPr>
          <p:cNvSpPr txBox="1"/>
          <p:nvPr/>
        </p:nvSpPr>
        <p:spPr>
          <a:xfrm>
            <a:off x="1" y="3455558"/>
            <a:ext cx="7021286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Para fazer um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pull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 de um repositório do GitHub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git 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pull</a:t>
            </a:r>
            <a:endParaRPr lang="pt-BR" sz="2400">
              <a:solidFill>
                <a:prstClr val="black"/>
              </a:solidFill>
              <a:cs typeface="Calibri" panose="020F050202020403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CE5956E-0F10-9BDA-D3A1-3F30D8657D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664" r="2903" b="14936"/>
          <a:stretch/>
        </p:blipFill>
        <p:spPr>
          <a:xfrm>
            <a:off x="3456976" y="4218037"/>
            <a:ext cx="5278048" cy="221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99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6AF16-EE51-DF35-721A-6D1C83811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9A09259-3018-1FEF-04E6-CB69DFF79DBC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410120B0-7D7C-2545-A0C9-47F05157FDDB}"/>
              </a:ext>
            </a:extLst>
          </p:cNvPr>
          <p:cNvSpPr txBox="1">
            <a:spLocks/>
          </p:cNvSpPr>
          <p:nvPr/>
        </p:nvSpPr>
        <p:spPr>
          <a:xfrm>
            <a:off x="719830" y="1376829"/>
            <a:ext cx="9124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Clone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E1C895-A2B3-9EE3-8DF5-B5C6C6F30B03}"/>
              </a:ext>
            </a:extLst>
          </p:cNvPr>
          <p:cNvSpPr txBox="1"/>
          <p:nvPr/>
        </p:nvSpPr>
        <p:spPr>
          <a:xfrm>
            <a:off x="0" y="2063573"/>
            <a:ext cx="727247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Cria uma cópia local de um repositório existente, permitindo que você trabalhe e faça alterações no projeto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 cópia local é totalmente funcional, o que significa que você pode editar arquivos e fazer 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commits</a:t>
            </a:r>
            <a:endParaRPr lang="pt-BR" sz="2400">
              <a:solidFill>
                <a:prstClr val="black"/>
              </a:solidFill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7A5C64-7D34-16D9-50F2-13F976B970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4" r="3061"/>
          <a:stretch/>
        </p:blipFill>
        <p:spPr>
          <a:xfrm>
            <a:off x="8232122" y="2063573"/>
            <a:ext cx="3545038" cy="209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097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22709-C5B8-FE44-0E1F-0ED6C43B7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28D312AC-2ABD-C3DA-B8E8-60FD673A2CBB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4FC3FA5-15FB-A916-8F68-4551048A12F4}"/>
              </a:ext>
            </a:extLst>
          </p:cNvPr>
          <p:cNvSpPr txBox="1">
            <a:spLocks/>
          </p:cNvSpPr>
          <p:nvPr/>
        </p:nvSpPr>
        <p:spPr>
          <a:xfrm>
            <a:off x="690226" y="719444"/>
            <a:ext cx="3351935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Clonando um repositório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F300E6-9F77-7241-BA57-21AA2CE02A50}"/>
              </a:ext>
            </a:extLst>
          </p:cNvPr>
          <p:cNvSpPr txBox="1"/>
          <p:nvPr/>
        </p:nvSpPr>
        <p:spPr>
          <a:xfrm>
            <a:off x="0" y="1195684"/>
            <a:ext cx="1163937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Para clonar um repositório do GitHub em um repositório local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Vá no repositório do GitHub e pegue o link dele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Digite no terminal dentro da pasta do repositório: git clone &lt;link&gt;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Ex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: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git clone https://github.com/HenriqueDelegrego/tutorial.git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Isso vai fazer com que o repositório do GitHub se conecte ao seu repositório local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7FD531-E4DE-4013-5C3B-1E6B94D9C3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8607"/>
          <a:stretch/>
        </p:blipFill>
        <p:spPr>
          <a:xfrm>
            <a:off x="408214" y="3635021"/>
            <a:ext cx="7806623" cy="27116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99A946-F19C-9620-35BD-172D3036C629}"/>
              </a:ext>
            </a:extLst>
          </p:cNvPr>
          <p:cNvSpPr txBox="1"/>
          <p:nvPr/>
        </p:nvSpPr>
        <p:spPr>
          <a:xfrm>
            <a:off x="8326016" y="4371819"/>
            <a:ext cx="3686564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Vamos fazer o clone de um repositório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Fazer exercícios 1 e 2</a:t>
            </a:r>
          </a:p>
        </p:txBody>
      </p:sp>
    </p:spTree>
    <p:extLst>
      <p:ext uri="{BB962C8B-B14F-4D97-AF65-F5344CB8AC3E}">
        <p14:creationId xmlns:p14="http://schemas.microsoft.com/office/powerpoint/2010/main" val="325042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F2333-65B4-B6C1-EC96-FE4793585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DB39E4CD-FAE6-C0DB-48E2-B5B174DBF6B5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B978023-50E9-ADAF-1F73-09BF266CE054}"/>
              </a:ext>
            </a:extLst>
          </p:cNvPr>
          <p:cNvSpPr txBox="1">
            <a:spLocks/>
          </p:cNvSpPr>
          <p:nvPr/>
        </p:nvSpPr>
        <p:spPr>
          <a:xfrm>
            <a:off x="719829" y="1275557"/>
            <a:ext cx="107478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Branch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2AF326-162A-46C5-FB9B-E795A9987D62}"/>
              </a:ext>
            </a:extLst>
          </p:cNvPr>
          <p:cNvSpPr txBox="1"/>
          <p:nvPr/>
        </p:nvSpPr>
        <p:spPr>
          <a:xfrm>
            <a:off x="0" y="2008209"/>
            <a:ext cx="6452075" cy="16466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Linha de desenvolvimento separada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Utilizado para organizar, isolar e controlar mudanças no código sem afetar diretamente o código principal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06A85C1-6153-884A-69DD-1B7D5C1C18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04" t="6020" r="2792" b="27770"/>
          <a:stretch/>
        </p:blipFill>
        <p:spPr>
          <a:xfrm>
            <a:off x="6556587" y="1494492"/>
            <a:ext cx="5420810" cy="17951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9F34832-A756-BCA6-D6E1-12A9AFDB9B09}"/>
              </a:ext>
            </a:extLst>
          </p:cNvPr>
          <p:cNvSpPr txBox="1"/>
          <p:nvPr/>
        </p:nvSpPr>
        <p:spPr>
          <a:xfrm>
            <a:off x="-1" y="3654814"/>
            <a:ext cx="115326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Possibilita desenvolver duas ou mais versões do software simultaneamente. Por exemplo, uma versão que tem o código funcionando, mas não possui novas funcionalidades e outra versão onde novas funcionalidades estão sendo trabalhadas</a:t>
            </a:r>
          </a:p>
        </p:txBody>
      </p:sp>
    </p:spTree>
    <p:extLst>
      <p:ext uri="{BB962C8B-B14F-4D97-AF65-F5344CB8AC3E}">
        <p14:creationId xmlns:p14="http://schemas.microsoft.com/office/powerpoint/2010/main" val="7194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21626-8511-9C92-999D-9B4CE7FEC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D69AAE8C-E8C7-EEF4-A5BC-A1C66B9D54E1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23622D9-842C-7A41-86EC-BFBA38650862}"/>
              </a:ext>
            </a:extLst>
          </p:cNvPr>
          <p:cNvSpPr txBox="1">
            <a:spLocks/>
          </p:cNvSpPr>
          <p:nvPr/>
        </p:nvSpPr>
        <p:spPr>
          <a:xfrm>
            <a:off x="764953" y="1144126"/>
            <a:ext cx="3954017" cy="75713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/ Merge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(PR / MR)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0E6A54-6A44-EDD5-AB8C-B266B0FECB94}"/>
              </a:ext>
            </a:extLst>
          </p:cNvPr>
          <p:cNvSpPr txBox="1"/>
          <p:nvPr/>
        </p:nvSpPr>
        <p:spPr>
          <a:xfrm>
            <a:off x="0" y="2139398"/>
            <a:ext cx="59542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Permite um desenvolvedor propor alterações em um código para revisão antes que elas sejam incorporadas na branch principal do projeto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5B925C-2D9B-105D-1227-CE35A59AA509}"/>
              </a:ext>
            </a:extLst>
          </p:cNvPr>
          <p:cNvSpPr txBox="1"/>
          <p:nvPr/>
        </p:nvSpPr>
        <p:spPr>
          <a:xfrm>
            <a:off x="0" y="3709058"/>
            <a:ext cx="113538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É aberto um espaço para que outros desenvolvedores revisem, discutam e sugiram modificações antes de as alterações serem mescladas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Uma vez que o PR foi revisado e aprovado pelos membros necessários da equipe, pode ser feito o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merge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Caso as mudanças não forem necessárias ou soluções melhores terem sido encontradas, um PR pode não ser aceito e fechado sem ser feito o merge</a:t>
            </a:r>
          </a:p>
        </p:txBody>
      </p:sp>
      <p:pic>
        <p:nvPicPr>
          <p:cNvPr id="11" name="Picture 10" descr="Pull/Merge Requests: seguindo boas práticas | by Henrique Braga | luizalabs  | Medium">
            <a:extLst>
              <a:ext uri="{FF2B5EF4-FFF2-40B4-BE49-F238E27FC236}">
                <a16:creationId xmlns:a16="http://schemas.microsoft.com/office/drawing/2014/main" id="{EAD86722-1B92-DD35-AFA7-5DD9343F56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2"/>
          <a:stretch/>
        </p:blipFill>
        <p:spPr bwMode="auto">
          <a:xfrm>
            <a:off x="6237732" y="1052582"/>
            <a:ext cx="5812535" cy="1697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1452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9517-0578-4238-0F2E-6A69492B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CF7BDF3B-EF83-F695-9FD3-D99DD581FDC6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D7626A6-53E0-E338-0712-F4E45522F6EC}"/>
              </a:ext>
            </a:extLst>
          </p:cNvPr>
          <p:cNvSpPr txBox="1">
            <a:spLocks/>
          </p:cNvSpPr>
          <p:nvPr/>
        </p:nvSpPr>
        <p:spPr>
          <a:xfrm>
            <a:off x="732079" y="1029101"/>
            <a:ext cx="101045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Merge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D2E36F-58EA-2E60-486E-BA2A527FA1AB}"/>
              </a:ext>
            </a:extLst>
          </p:cNvPr>
          <p:cNvSpPr txBox="1"/>
          <p:nvPr/>
        </p:nvSpPr>
        <p:spPr>
          <a:xfrm>
            <a:off x="0" y="1576329"/>
            <a:ext cx="7591244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Processo de combinar as alterações de uma branch em outro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Um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conflito de merge (merge conflict)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acontece quando o Git não consegue mesclar automaticamente as alterações porque a mesma parte do código foi editada de maneiras diferentes em duas branches</a:t>
            </a:r>
          </a:p>
        </p:txBody>
      </p:sp>
      <p:pic>
        <p:nvPicPr>
          <p:cNvPr id="10" name="Picture 2" descr="Git - Merge - GeeksforGeeks">
            <a:extLst>
              <a:ext uri="{FF2B5EF4-FFF2-40B4-BE49-F238E27FC236}">
                <a16:creationId xmlns:a16="http://schemas.microsoft.com/office/drawing/2014/main" id="{6FC07A14-7ED6-2DAE-2AE2-6D901A1CB5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0228" r="553" b="7926"/>
          <a:stretch/>
        </p:blipFill>
        <p:spPr bwMode="auto">
          <a:xfrm>
            <a:off x="7896748" y="1420292"/>
            <a:ext cx="4000623" cy="218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6A5C8CA-3EAC-EE8C-3430-F73CBC8654B8}"/>
              </a:ext>
            </a:extLst>
          </p:cNvPr>
          <p:cNvSpPr txBox="1"/>
          <p:nvPr/>
        </p:nvSpPr>
        <p:spPr>
          <a:xfrm>
            <a:off x="0" y="3961597"/>
            <a:ext cx="11688792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 dica é sempre ter coordenação com a sua equipe sobre quais arquivos serão modificados e trabalhar com a versão atualizada dos arquivos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Merge conflicts podem ocorrer por: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Edições simultâneas: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Duas pessoas modificam as mesmas linhas em um arquivo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Exclusão vs. Modificação: 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Uma pessoa exclui um arquivo enquanto outra o edita</a:t>
            </a:r>
          </a:p>
        </p:txBody>
      </p:sp>
    </p:spTree>
    <p:extLst>
      <p:ext uri="{BB962C8B-B14F-4D97-AF65-F5344CB8AC3E}">
        <p14:creationId xmlns:p14="http://schemas.microsoft.com/office/powerpoint/2010/main" val="809657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034E6-15F0-FCE0-7AF9-06A103D09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0897C5A2-CB1D-BCF9-05A7-9B59454C0412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  <a:endParaRPr lang="pt-BR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F793EAF-7014-4C1B-2D3C-EA9E3B00D6FB}"/>
              </a:ext>
            </a:extLst>
          </p:cNvPr>
          <p:cNvSpPr txBox="1">
            <a:spLocks/>
          </p:cNvSpPr>
          <p:nvPr/>
        </p:nvSpPr>
        <p:spPr>
          <a:xfrm>
            <a:off x="707317" y="853954"/>
            <a:ext cx="28819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Criando outra branch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49FA2B-8C09-D2F8-D902-62CAD3647138}"/>
              </a:ext>
            </a:extLst>
          </p:cNvPr>
          <p:cNvSpPr txBox="1"/>
          <p:nvPr/>
        </p:nvSpPr>
        <p:spPr>
          <a:xfrm>
            <a:off x="0" y="1348414"/>
            <a:ext cx="118599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Para criar uma outra branch: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Digite no terminal dentro da pasta do repositório: 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git checkout -b &lt;nome-branch&gt;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Para se locomover entre branches já existentes, repita o código omitindo o 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-b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Mencione o nome da branch no push: 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git push -u origin nova-branch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Abra o </a:t>
            </a:r>
            <a:r>
              <a:rPr lang="pt-BR" sz="2400" dirty="0" err="1">
                <a:solidFill>
                  <a:prstClr val="black"/>
                </a:solidFill>
                <a:cs typeface="Calibri" panose="020F0502020204030204" pitchFamily="34" charset="0"/>
              </a:rPr>
              <a:t>pull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 </a:t>
            </a:r>
            <a:r>
              <a:rPr lang="pt-BR" sz="2400" dirty="0" err="1">
                <a:solidFill>
                  <a:prstClr val="black"/>
                </a:solidFill>
                <a:cs typeface="Calibri" panose="020F0502020204030204" pitchFamily="34" charset="0"/>
              </a:rPr>
              <a:t>request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 no GitHub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FC89CF-99AE-0F2E-44DA-9DFB72F7595F}"/>
              </a:ext>
            </a:extLst>
          </p:cNvPr>
          <p:cNvSpPr txBox="1"/>
          <p:nvPr/>
        </p:nvSpPr>
        <p:spPr>
          <a:xfrm>
            <a:off x="7445829" y="4198153"/>
            <a:ext cx="448802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Vamos criar um </a:t>
            </a:r>
            <a:r>
              <a:rPr lang="pt-BR" sz="2400" dirty="0" err="1">
                <a:solidFill>
                  <a:prstClr val="black"/>
                </a:solidFill>
                <a:cs typeface="Calibri" panose="020F0502020204030204" pitchFamily="34" charset="0"/>
              </a:rPr>
              <a:t>Pull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 </a:t>
            </a:r>
            <a:r>
              <a:rPr lang="pt-BR" sz="2400" dirty="0" err="1">
                <a:solidFill>
                  <a:prstClr val="black"/>
                </a:solidFill>
                <a:cs typeface="Calibri" panose="020F0502020204030204" pitchFamily="34" charset="0"/>
              </a:rPr>
              <a:t>Request</a:t>
            </a:r>
            <a:endParaRPr lang="pt-BR" sz="2400" dirty="0">
              <a:solidFill>
                <a:prstClr val="black"/>
              </a:solidFill>
              <a:cs typeface="Calibri" panose="020F0502020204030204" pitchFamily="34" charset="0"/>
            </a:endParaRP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Fazer exercício 3 e 4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2C2333-7E51-2666-5F0D-F697FA2E5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17" y="3764519"/>
            <a:ext cx="5799246" cy="2505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35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FBF9-20DB-6B30-33A9-9DF16A8DF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9BBE531E-2B02-5AE6-864C-2DE9A336B56D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3F3B98B8-CF87-542B-9DD7-511D8D2EED4A}"/>
              </a:ext>
            </a:extLst>
          </p:cNvPr>
          <p:cNvSpPr txBox="1">
            <a:spLocks/>
          </p:cNvSpPr>
          <p:nvPr/>
        </p:nvSpPr>
        <p:spPr>
          <a:xfrm>
            <a:off x="710296" y="1048398"/>
            <a:ext cx="75879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Fork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CE6564-A7B0-DDB0-95BD-99AD11832D7B}"/>
              </a:ext>
            </a:extLst>
          </p:cNvPr>
          <p:cNvSpPr txBox="1"/>
          <p:nvPr/>
        </p:nvSpPr>
        <p:spPr>
          <a:xfrm>
            <a:off x="0" y="1929252"/>
            <a:ext cx="783771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Processo de criar uma cópia pessoal de um repositório, tipicamente de projetos </a:t>
            </a:r>
            <a:r>
              <a:rPr lang="pt-BR" sz="2400" b="1">
                <a:solidFill>
                  <a:prstClr val="black"/>
                </a:solidFill>
                <a:cs typeface="Calibri" panose="020F0502020204030204" pitchFamily="34" charset="0"/>
              </a:rPr>
              <a:t>Open </a:t>
            </a:r>
            <a:r>
              <a:rPr lang="pt-BR" sz="2400" b="1" err="1">
                <a:solidFill>
                  <a:prstClr val="black"/>
                </a:solidFill>
                <a:cs typeface="Calibri" panose="020F0502020204030204" pitchFamily="34" charset="0"/>
              </a:rPr>
              <a:t>Source</a:t>
            </a:r>
            <a:endParaRPr lang="pt-BR" sz="2400" b="1">
              <a:solidFill>
                <a:prstClr val="black"/>
              </a:solidFill>
              <a:cs typeface="Calibri" panose="020F0502020204030204" pitchFamily="34" charset="0"/>
            </a:endParaRP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Feito para implementar novas funcionalidades ou consertar bugs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Tem a opção de contribuir com o projeto original a partir de um 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Pull</a:t>
            </a: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 </a:t>
            </a:r>
            <a:r>
              <a:rPr lang="pt-BR" sz="2400" err="1">
                <a:solidFill>
                  <a:prstClr val="black"/>
                </a:solidFill>
                <a:cs typeface="Calibri" panose="020F0502020204030204" pitchFamily="34" charset="0"/>
              </a:rPr>
              <a:t>Request</a:t>
            </a:r>
            <a:endParaRPr lang="pt-BR" sz="2400">
              <a:solidFill>
                <a:prstClr val="black"/>
              </a:solidFill>
              <a:cs typeface="Calibri" panose="020F0502020204030204" pitchFamily="34" charset="0"/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5BCAB28A-0878-33A9-CC20-57D54CDE62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423" t="34966" r="11133" b="16055"/>
          <a:stretch>
            <a:fillRect/>
          </a:stretch>
        </p:blipFill>
        <p:spPr bwMode="auto">
          <a:xfrm>
            <a:off x="8778667" y="1929252"/>
            <a:ext cx="2847275" cy="283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408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2695E-7862-4FFF-F29C-C92EBB957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07FB750-1B32-7633-C50A-D7EFDC34FD3A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  <a:endParaRPr lang="pt-BR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49EE9201-F60A-B4FB-CD37-A4E7F8C0DEE9}"/>
              </a:ext>
            </a:extLst>
          </p:cNvPr>
          <p:cNvSpPr txBox="1">
            <a:spLocks/>
          </p:cNvSpPr>
          <p:nvPr/>
        </p:nvSpPr>
        <p:spPr>
          <a:xfrm>
            <a:off x="739792" y="920579"/>
            <a:ext cx="843202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Issue</a:t>
            </a:r>
            <a:endParaRPr lang="pt-B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B5FF2F-4DA8-A609-0D61-4283A5D37622}"/>
              </a:ext>
            </a:extLst>
          </p:cNvPr>
          <p:cNvSpPr txBox="1"/>
          <p:nvPr/>
        </p:nvSpPr>
        <p:spPr>
          <a:xfrm>
            <a:off x="0" y="1447471"/>
            <a:ext cx="11729885" cy="3585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Sistema de rastreamento integrado a repositórios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Utilizado para rastrear bugs, discussões, dívida técnica, entre outros em um projeto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Possuem dois estados principais: 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aberto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 (pendente) e </a:t>
            </a: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fechado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 (concluído)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Anatomia básica de um </a:t>
            </a:r>
            <a:r>
              <a:rPr lang="pt-BR" sz="2400" dirty="0" err="1">
                <a:solidFill>
                  <a:prstClr val="black"/>
                </a:solidFill>
                <a:cs typeface="Calibri" panose="020F0502020204030204" pitchFamily="34" charset="0"/>
              </a:rPr>
              <a:t>Issue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: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Título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: Página de login trava com uma senha que contêm caractere especial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Passos para reproduzir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: Faça login com uma senha que contenha caractere especial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Esperado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: O usuário deveria ser logado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Ocorreu</a:t>
            </a: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: Uma exceção não tratada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A1B774-E2B9-16E6-BE6D-834DEBE536C5}"/>
              </a:ext>
            </a:extLst>
          </p:cNvPr>
          <p:cNvSpPr txBox="1"/>
          <p:nvPr/>
        </p:nvSpPr>
        <p:spPr>
          <a:xfrm>
            <a:off x="0" y="5410529"/>
            <a:ext cx="4488024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 dirty="0">
                <a:solidFill>
                  <a:prstClr val="black"/>
                </a:solidFill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prstClr val="black"/>
                </a:solidFill>
                <a:cs typeface="Calibri" panose="020F0502020204030204" pitchFamily="34" charset="0"/>
              </a:rPr>
              <a:t>Fazer exercício de </a:t>
            </a:r>
            <a:r>
              <a:rPr lang="pt-BR" sz="2400" dirty="0" err="1">
                <a:solidFill>
                  <a:prstClr val="black"/>
                </a:solidFill>
                <a:cs typeface="Calibri" panose="020F0502020204030204" pitchFamily="34" charset="0"/>
              </a:rPr>
              <a:t>Issues</a:t>
            </a:r>
            <a:endParaRPr lang="pt-BR" sz="2400" dirty="0">
              <a:solidFill>
                <a:prstClr val="black"/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849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63974-E022-7211-98F9-7049F059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11CB6AC-EC7C-D879-67AF-082002383C1E}"/>
              </a:ext>
            </a:extLst>
          </p:cNvPr>
          <p:cNvSpPr txBox="1">
            <a:spLocks/>
          </p:cNvSpPr>
          <p:nvPr/>
        </p:nvSpPr>
        <p:spPr>
          <a:xfrm>
            <a:off x="3048000" y="209913"/>
            <a:ext cx="6096000" cy="5355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A13685EA-384C-B5F5-31A3-B463A6A409C3}"/>
              </a:ext>
            </a:extLst>
          </p:cNvPr>
          <p:cNvSpPr txBox="1">
            <a:spLocks/>
          </p:cNvSpPr>
          <p:nvPr/>
        </p:nvSpPr>
        <p:spPr>
          <a:xfrm>
            <a:off x="742951" y="984726"/>
            <a:ext cx="219696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07BD6D-13E9-957C-6ECC-A1BB581AE0E7}"/>
              </a:ext>
            </a:extLst>
          </p:cNvPr>
          <p:cNvSpPr txBox="1"/>
          <p:nvPr/>
        </p:nvSpPr>
        <p:spPr>
          <a:xfrm>
            <a:off x="20905" y="1614143"/>
            <a:ext cx="11303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solidFill>
                  <a:prstClr val="black"/>
                </a:solidFill>
                <a:cs typeface="Calibri" panose="020F0502020204030204" pitchFamily="34" charset="0"/>
              </a:rPr>
              <a:t>Aplicativo de interface gráfica (GUI) para interação com repositórios do GitHub</a:t>
            </a:r>
          </a:p>
        </p:txBody>
      </p:sp>
      <p:pic>
        <p:nvPicPr>
          <p:cNvPr id="9" name="Picture 4" descr="Getting started with Git and GitHub is easier than ever with GitHub Desktop  2.2 - The GitHub Blog">
            <a:extLst>
              <a:ext uri="{FF2B5EF4-FFF2-40B4-BE49-F238E27FC236}">
                <a16:creationId xmlns:a16="http://schemas.microsoft.com/office/drawing/2014/main" id="{E53BA306-008B-35C2-3D9B-07E95F7EA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639" y="2511591"/>
            <a:ext cx="5772722" cy="37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7793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1616</Words>
  <Application>Microsoft Office PowerPoint</Application>
  <PresentationFormat>Widescreen</PresentationFormat>
  <Paragraphs>193</Paragraphs>
  <Slides>26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Century Gothic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Delegrego</dc:creator>
  <cp:lastModifiedBy>Henrique Delegrego</cp:lastModifiedBy>
  <cp:revision>1</cp:revision>
  <dcterms:created xsi:type="dcterms:W3CDTF">2026-05-11T19:09:46Z</dcterms:created>
  <dcterms:modified xsi:type="dcterms:W3CDTF">2026-05-11T19:16:43Z</dcterms:modified>
</cp:coreProperties>
</file>